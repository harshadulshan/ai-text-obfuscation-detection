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 (MS)" panose="020B0604020202020204" charset="0"/>
      <p:regular r:id="rId18"/>
    </p:embeddedFont>
    <p:embeddedFont>
      <p:font typeface="Calibri (MS) Bold" panose="020B0604020202020204" charset="0"/>
      <p:regular r:id="rId19"/>
    </p:embeddedFont>
    <p:embeddedFont>
      <p:font typeface="Calibri (MS) Italics" panose="020B0604020202020204" charset="0"/>
      <p:regular r:id="rId20"/>
    </p:embeddedFont>
    <p:embeddedFont>
      <p:font typeface="Segoe UI Emoji" panose="020B0502040204020203" pitchFamily="3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52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33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0266683" cy="10312403"/>
            <a:chOff x="0" y="0"/>
            <a:chExt cx="13688911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3655039" cy="13715999"/>
            </a:xfrm>
            <a:custGeom>
              <a:avLst/>
              <a:gdLst/>
              <a:ahLst/>
              <a:cxnLst/>
              <a:rect l="l" t="t" r="r" b="b"/>
              <a:pathLst>
                <a:path w="13655039" h="13715999">
                  <a:moveTo>
                    <a:pt x="0" y="0"/>
                  </a:moveTo>
                  <a:lnTo>
                    <a:pt x="13655039" y="0"/>
                  </a:lnTo>
                  <a:lnTo>
                    <a:pt x="1365503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3688822" cy="13749782"/>
            </a:xfrm>
            <a:custGeom>
              <a:avLst/>
              <a:gdLst/>
              <a:ahLst/>
              <a:cxnLst/>
              <a:rect l="l" t="t" r="r" b="b"/>
              <a:pathLst>
                <a:path w="13688822" h="1374978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13732890"/>
                  </a:lnTo>
                  <a:cubicBezTo>
                    <a:pt x="13688822" y="13742290"/>
                    <a:pt x="13681202" y="13749782"/>
                    <a:pt x="1367193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3671930" y="13716000"/>
                  </a:lnTo>
                  <a:lnTo>
                    <a:pt x="13671930" y="13732890"/>
                  </a:lnTo>
                  <a:lnTo>
                    <a:pt x="13655039" y="13732890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28583" y="-12697"/>
            <a:ext cx="171707" cy="10312403"/>
            <a:chOff x="0" y="0"/>
            <a:chExt cx="228943" cy="137498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927735"/>
            <a:ext cx="8961120" cy="350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Which Model Leaves</a:t>
            </a:r>
          </a:p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Last Fingerprint?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22960" y="4572000"/>
            <a:ext cx="9144000" cy="1645920"/>
            <a:chOff x="0" y="0"/>
            <a:chExt cx="12192000" cy="21945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92000" cy="2194560"/>
            </a:xfrm>
            <a:custGeom>
              <a:avLst/>
              <a:gdLst/>
              <a:ahLst/>
              <a:cxnLst/>
              <a:rect l="l" t="t" r="r" b="b"/>
              <a:pathLst>
                <a:path w="12192000" h="2194560">
                  <a:moveTo>
                    <a:pt x="0" y="0"/>
                  </a:moveTo>
                  <a:lnTo>
                    <a:pt x="12192000" y="0"/>
                  </a:lnTo>
                  <a:lnTo>
                    <a:pt x="12192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192000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Stylometric Attribution Survival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 LLM-Based Rewriting Pressure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0263" y="6351527"/>
            <a:ext cx="8255003" cy="98555"/>
            <a:chOff x="0" y="0"/>
            <a:chExt cx="11006671" cy="131407"/>
          </a:xfrm>
        </p:grpSpPr>
        <p:sp>
          <p:nvSpPr>
            <p:cNvPr id="13" name="Freeform 13"/>
            <p:cNvSpPr/>
            <p:nvPr/>
          </p:nvSpPr>
          <p:spPr>
            <a:xfrm>
              <a:off x="16891" y="16891"/>
              <a:ext cx="10972800" cy="97536"/>
            </a:xfrm>
            <a:custGeom>
              <a:avLst/>
              <a:gdLst/>
              <a:ahLst/>
              <a:cxnLst/>
              <a:rect l="l" t="t" r="r" b="b"/>
              <a:pathLst>
                <a:path w="10972800" h="97536">
                  <a:moveTo>
                    <a:pt x="0" y="0"/>
                  </a:moveTo>
                  <a:lnTo>
                    <a:pt x="10972800" y="0"/>
                  </a:lnTo>
                  <a:lnTo>
                    <a:pt x="109728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11006582" cy="131320"/>
            </a:xfrm>
            <a:custGeom>
              <a:avLst/>
              <a:gdLst/>
              <a:ahLst/>
              <a:cxnLst/>
              <a:rect l="l" t="t" r="r" b="b"/>
              <a:pathLst>
                <a:path w="11006582" h="13132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4427"/>
                  </a:lnTo>
                  <a:cubicBezTo>
                    <a:pt x="11006582" y="123825"/>
                    <a:pt x="10998962" y="131318"/>
                    <a:pt x="109896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989691" y="97536"/>
                  </a:lnTo>
                  <a:lnTo>
                    <a:pt x="10989691" y="114427"/>
                  </a:lnTo>
                  <a:lnTo>
                    <a:pt x="10972800" y="114427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6583680"/>
            <a:ext cx="9144000" cy="2926080"/>
            <a:chOff x="0" y="0"/>
            <a:chExt cx="12192000" cy="3901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192000" cy="3901440"/>
            </a:xfrm>
            <a:custGeom>
              <a:avLst/>
              <a:gdLst/>
              <a:ahLst/>
              <a:cxnLst/>
              <a:rect l="l" t="t" r="r" b="b"/>
              <a:pathLst>
                <a:path w="12192000" h="3901440">
                  <a:moveTo>
                    <a:pt x="0" y="0"/>
                  </a:moveTo>
                  <a:lnTo>
                    <a:pt x="12192000" y="0"/>
                  </a:lnTo>
                  <a:lnTo>
                    <a:pt x="121920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2192000" cy="3939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I.H.P.H. Dulshan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No: 29315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 — Batch 22.2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NSBM Green University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Supervisor: [Supervisor Name]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42983" y="2730503"/>
            <a:ext cx="3134363" cy="1488443"/>
            <a:chOff x="0" y="0"/>
            <a:chExt cx="4179151" cy="1984591"/>
          </a:xfrm>
        </p:grpSpPr>
        <p:sp>
          <p:nvSpPr>
            <p:cNvPr id="19" name="Freeform 19"/>
            <p:cNvSpPr/>
            <p:nvPr/>
          </p:nvSpPr>
          <p:spPr>
            <a:xfrm>
              <a:off x="16891" y="16891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0A37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4179062" cy="1984502"/>
            </a:xfrm>
            <a:custGeom>
              <a:avLst/>
              <a:gdLst/>
              <a:ahLst/>
              <a:cxnLst/>
              <a:rect l="l" t="t" r="r" b="b"/>
              <a:pathLst>
                <a:path w="4179062" h="198450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A37F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55680" y="2743200"/>
            <a:ext cx="3108960" cy="1463040"/>
            <a:chOff x="0" y="0"/>
            <a:chExt cx="4145280" cy="19507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ChatGPT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617703" y="2730503"/>
            <a:ext cx="3134363" cy="1488443"/>
            <a:chOff x="0" y="0"/>
            <a:chExt cx="4179151" cy="1984591"/>
          </a:xfrm>
        </p:grpSpPr>
        <p:sp>
          <p:nvSpPr>
            <p:cNvPr id="25" name="Freeform 25"/>
            <p:cNvSpPr/>
            <p:nvPr/>
          </p:nvSpPr>
          <p:spPr>
            <a:xfrm>
              <a:off x="16891" y="16891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4179062" cy="1984502"/>
            </a:xfrm>
            <a:custGeom>
              <a:avLst/>
              <a:gdLst/>
              <a:ahLst/>
              <a:cxnLst/>
              <a:rect l="l" t="t" r="r" b="b"/>
              <a:pathLst>
                <a:path w="4179062" h="198450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630400" y="2743200"/>
            <a:ext cx="3108960" cy="1463040"/>
            <a:chOff x="0" y="0"/>
            <a:chExt cx="4145280" cy="19507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42983" y="5839463"/>
            <a:ext cx="3134363" cy="1488443"/>
            <a:chOff x="0" y="0"/>
            <a:chExt cx="4179151" cy="1984591"/>
          </a:xfrm>
        </p:grpSpPr>
        <p:sp>
          <p:nvSpPr>
            <p:cNvPr id="31" name="Freeform 31"/>
            <p:cNvSpPr/>
            <p:nvPr/>
          </p:nvSpPr>
          <p:spPr>
            <a:xfrm>
              <a:off x="16891" y="16891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4179062" cy="1984502"/>
            </a:xfrm>
            <a:custGeom>
              <a:avLst/>
              <a:gdLst/>
              <a:ahLst/>
              <a:cxnLst/>
              <a:rect l="l" t="t" r="r" b="b"/>
              <a:pathLst>
                <a:path w="4179062" h="198450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155680" y="5852160"/>
            <a:ext cx="3108960" cy="1463040"/>
            <a:chOff x="0" y="0"/>
            <a:chExt cx="4145280" cy="19507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Gemini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617703" y="5839463"/>
            <a:ext cx="3134363" cy="1488443"/>
            <a:chOff x="0" y="0"/>
            <a:chExt cx="4179151" cy="1984591"/>
          </a:xfrm>
        </p:grpSpPr>
        <p:sp>
          <p:nvSpPr>
            <p:cNvPr id="37" name="Freeform 37"/>
            <p:cNvSpPr/>
            <p:nvPr/>
          </p:nvSpPr>
          <p:spPr>
            <a:xfrm>
              <a:off x="16891" y="16891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4179062" cy="1984502"/>
            </a:xfrm>
            <a:custGeom>
              <a:avLst/>
              <a:gdLst/>
              <a:ahLst/>
              <a:cxnLst/>
              <a:rect l="l" t="t" r="r" b="b"/>
              <a:pathLst>
                <a:path w="4179062" h="198450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630400" y="5852160"/>
            <a:ext cx="3108960" cy="1463040"/>
            <a:chOff x="0" y="0"/>
            <a:chExt cx="4145280" cy="19507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Grok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424160" y="8961120"/>
            <a:ext cx="7680960" cy="731520"/>
            <a:chOff x="0" y="0"/>
            <a:chExt cx="10241280" cy="9753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241280" cy="975360"/>
            </a:xfrm>
            <a:custGeom>
              <a:avLst/>
              <a:gdLst/>
              <a:ahLst/>
              <a:cxnLst/>
              <a:rect l="l" t="t" r="r" b="b"/>
              <a:pathLst>
                <a:path w="10241280" h="97536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592" b="-15459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024128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Year Research Project  |  February 2026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400" b="1" dirty="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can't institutions identify which AI model generated a student's work?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blipFill>
              <a:blip r:embed="rId5"/>
              <a:stretch>
                <a:fillRect t="-2276870" b="-2276912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7383" y="2456183"/>
            <a:ext cx="5328923" cy="3042923"/>
            <a:chOff x="0" y="0"/>
            <a:chExt cx="7105231" cy="405723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7071360" cy="4023360"/>
            </a:xfrm>
            <a:custGeom>
              <a:avLst/>
              <a:gdLst/>
              <a:ahLst/>
              <a:cxnLst/>
              <a:rect l="l" t="t" r="r" b="b"/>
              <a:pathLst>
                <a:path w="7071360" h="4023360">
                  <a:moveTo>
                    <a:pt x="0" y="0"/>
                  </a:moveTo>
                  <a:lnTo>
                    <a:pt x="7071360" y="0"/>
                  </a:lnTo>
                  <a:lnTo>
                    <a:pt x="70713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7105142" cy="4057142"/>
            </a:xfrm>
            <a:custGeom>
              <a:avLst/>
              <a:gdLst/>
              <a:ahLst/>
              <a:cxnLst/>
              <a:rect l="l" t="t" r="r" b="b"/>
              <a:pathLst>
                <a:path w="7105142" h="4057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040251"/>
                  </a:lnTo>
                  <a:cubicBezTo>
                    <a:pt x="7105142" y="4049649"/>
                    <a:pt x="7097522" y="4057142"/>
                    <a:pt x="708825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7088251" y="4023360"/>
                  </a:lnTo>
                  <a:lnTo>
                    <a:pt x="7088251" y="4040251"/>
                  </a:lnTo>
                  <a:lnTo>
                    <a:pt x="7071360" y="40402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7383" y="2456183"/>
            <a:ext cx="5328923" cy="171707"/>
            <a:chOff x="0" y="0"/>
            <a:chExt cx="7105231" cy="22894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7071360" cy="195072"/>
            </a:xfrm>
            <a:custGeom>
              <a:avLst/>
              <a:gdLst/>
              <a:ahLst/>
              <a:cxnLst/>
              <a:rect l="l" t="t" r="r" b="b"/>
              <a:pathLst>
                <a:path w="7071360" h="195072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7105142" cy="228856"/>
            </a:xfrm>
            <a:custGeom>
              <a:avLst/>
              <a:gdLst/>
              <a:ahLst/>
              <a:cxnLst/>
              <a:rect l="l" t="t" r="r" b="b"/>
              <a:pathLst>
                <a:path w="7105142" h="228856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11963"/>
                  </a:lnTo>
                  <a:cubicBezTo>
                    <a:pt x="7105142" y="221361"/>
                    <a:pt x="7097522" y="228854"/>
                    <a:pt x="70882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088251" y="195072"/>
                  </a:lnTo>
                  <a:lnTo>
                    <a:pt x="7088251" y="211963"/>
                  </a:lnTo>
                  <a:lnTo>
                    <a:pt x="7071360" y="2119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0080" y="2706624"/>
            <a:ext cx="5303520" cy="1371600"/>
            <a:chOff x="0" y="0"/>
            <a:chExt cx="7071360" cy="1828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71360" cy="1828800"/>
            </a:xfrm>
            <a:custGeom>
              <a:avLst/>
              <a:gdLst/>
              <a:ahLst/>
              <a:cxnLst/>
              <a:rect l="l" t="t" r="r" b="b"/>
              <a:pathLst>
                <a:path w="7071360" h="182880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342" b="-2534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61925"/>
              <a:ext cx="7071360" cy="1990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0"/>
                </a:lnSpc>
              </a:pPr>
              <a:r>
                <a:rPr lang="en-US" sz="8000" b="1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48640" y="5956306"/>
            <a:ext cx="5328923" cy="3042923"/>
            <a:chOff x="0" y="0"/>
            <a:chExt cx="7105231" cy="4057231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7071360" cy="4023360"/>
            </a:xfrm>
            <a:custGeom>
              <a:avLst/>
              <a:gdLst/>
              <a:ahLst/>
              <a:cxnLst/>
              <a:rect l="l" t="t" r="r" b="b"/>
              <a:pathLst>
                <a:path w="7071360" h="4023360">
                  <a:moveTo>
                    <a:pt x="0" y="0"/>
                  </a:moveTo>
                  <a:lnTo>
                    <a:pt x="7071360" y="0"/>
                  </a:lnTo>
                  <a:lnTo>
                    <a:pt x="70713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7105142" cy="4057142"/>
            </a:xfrm>
            <a:custGeom>
              <a:avLst/>
              <a:gdLst/>
              <a:ahLst/>
              <a:cxnLst/>
              <a:rect l="l" t="t" r="r" b="b"/>
              <a:pathLst>
                <a:path w="7105142" h="4057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040251"/>
                  </a:lnTo>
                  <a:cubicBezTo>
                    <a:pt x="7105142" y="4049649"/>
                    <a:pt x="7097522" y="4057142"/>
                    <a:pt x="708825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7088251" y="4023360"/>
                  </a:lnTo>
                  <a:lnTo>
                    <a:pt x="7088251" y="4040251"/>
                  </a:lnTo>
                  <a:lnTo>
                    <a:pt x="7071360" y="40402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8640" y="5956306"/>
            <a:ext cx="5328923" cy="171707"/>
            <a:chOff x="0" y="0"/>
            <a:chExt cx="7105231" cy="228943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7071360" cy="195072"/>
            </a:xfrm>
            <a:custGeom>
              <a:avLst/>
              <a:gdLst/>
              <a:ahLst/>
              <a:cxnLst/>
              <a:rect l="l" t="t" r="r" b="b"/>
              <a:pathLst>
                <a:path w="7071360" h="195072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7105142" cy="228856"/>
            </a:xfrm>
            <a:custGeom>
              <a:avLst/>
              <a:gdLst/>
              <a:ahLst/>
              <a:cxnLst/>
              <a:rect l="l" t="t" r="r" b="b"/>
              <a:pathLst>
                <a:path w="7105142" h="228856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11963"/>
                  </a:lnTo>
                  <a:cubicBezTo>
                    <a:pt x="7105142" y="221361"/>
                    <a:pt x="7097522" y="228854"/>
                    <a:pt x="70882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088251" y="195072"/>
                  </a:lnTo>
                  <a:lnTo>
                    <a:pt x="7088251" y="211963"/>
                  </a:lnTo>
                  <a:lnTo>
                    <a:pt x="7071360" y="2119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1337" y="6206747"/>
            <a:ext cx="5303520" cy="1371600"/>
            <a:chOff x="0" y="0"/>
            <a:chExt cx="7071360" cy="1828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071360" cy="1828800"/>
            </a:xfrm>
            <a:custGeom>
              <a:avLst/>
              <a:gdLst/>
              <a:ahLst/>
              <a:cxnLst/>
              <a:rect l="l" t="t" r="r" b="b"/>
              <a:pathLst>
                <a:path w="7071360" h="182880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342" b="-2534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61925"/>
              <a:ext cx="7071360" cy="1990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0"/>
                </a:lnSpc>
              </a:pPr>
              <a:r>
                <a:rPr lang="en-US" sz="8000" b="1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518391" y="4368298"/>
            <a:ext cx="5328923" cy="3042923"/>
            <a:chOff x="0" y="0"/>
            <a:chExt cx="7105231" cy="405723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7071360" cy="4023360"/>
            </a:xfrm>
            <a:custGeom>
              <a:avLst/>
              <a:gdLst/>
              <a:ahLst/>
              <a:cxnLst/>
              <a:rect l="l" t="t" r="r" b="b"/>
              <a:pathLst>
                <a:path w="7071360" h="4023360">
                  <a:moveTo>
                    <a:pt x="0" y="0"/>
                  </a:moveTo>
                  <a:lnTo>
                    <a:pt x="7071360" y="0"/>
                  </a:lnTo>
                  <a:lnTo>
                    <a:pt x="70713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7105142" cy="4057142"/>
            </a:xfrm>
            <a:custGeom>
              <a:avLst/>
              <a:gdLst/>
              <a:ahLst/>
              <a:cxnLst/>
              <a:rect l="l" t="t" r="r" b="b"/>
              <a:pathLst>
                <a:path w="7105142" h="4057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040251"/>
                  </a:lnTo>
                  <a:cubicBezTo>
                    <a:pt x="7105142" y="4049649"/>
                    <a:pt x="7097522" y="4057142"/>
                    <a:pt x="708825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7088251" y="4023360"/>
                  </a:lnTo>
                  <a:lnTo>
                    <a:pt x="7088251" y="4040251"/>
                  </a:lnTo>
                  <a:lnTo>
                    <a:pt x="7071360" y="40402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518391" y="4368298"/>
            <a:ext cx="5328923" cy="171707"/>
            <a:chOff x="0" y="0"/>
            <a:chExt cx="7105231" cy="228943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7071360" cy="195072"/>
            </a:xfrm>
            <a:custGeom>
              <a:avLst/>
              <a:gdLst/>
              <a:ahLst/>
              <a:cxnLst/>
              <a:rect l="l" t="t" r="r" b="b"/>
              <a:pathLst>
                <a:path w="7071360" h="195072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7105142" cy="228856"/>
            </a:xfrm>
            <a:custGeom>
              <a:avLst/>
              <a:gdLst/>
              <a:ahLst/>
              <a:cxnLst/>
              <a:rect l="l" t="t" r="r" b="b"/>
              <a:pathLst>
                <a:path w="7105142" h="228856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11963"/>
                  </a:lnTo>
                  <a:cubicBezTo>
                    <a:pt x="7105142" y="221361"/>
                    <a:pt x="7097522" y="228854"/>
                    <a:pt x="70882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7088251" y="195072"/>
                  </a:lnTo>
                  <a:lnTo>
                    <a:pt x="7088251" y="211963"/>
                  </a:lnTo>
                  <a:lnTo>
                    <a:pt x="7071360" y="2119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531088" y="4618739"/>
            <a:ext cx="5303520" cy="1371600"/>
            <a:chOff x="0" y="0"/>
            <a:chExt cx="7071360" cy="1828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071360" cy="1828800"/>
            </a:xfrm>
            <a:custGeom>
              <a:avLst/>
              <a:gdLst/>
              <a:ahLst/>
              <a:cxnLst/>
              <a:rect l="l" t="t" r="r" b="b"/>
              <a:pathLst>
                <a:path w="7071360" h="182880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342" b="-2534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61925"/>
              <a:ext cx="7071360" cy="1990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0"/>
                </a:lnSpc>
              </a:pPr>
              <a:r>
                <a:rPr lang="en-US" sz="80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52777" y="7558154"/>
            <a:ext cx="512064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Non-agreement when Grok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tested unseen (Ye et al., 2025)</a:t>
            </a:r>
          </a:p>
        </p:txBody>
      </p:sp>
      <p:pic>
        <p:nvPicPr>
          <p:cNvPr id="45" name="Picture 4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t="8727" b="8970"/>
          <a:stretch>
            <a:fillRect/>
          </a:stretch>
        </p:blipFill>
        <p:spPr>
          <a:xfrm>
            <a:off x="6477002" y="2152402"/>
            <a:ext cx="5507988" cy="8059065"/>
          </a:xfrm>
          <a:prstGeom prst="rect">
            <a:avLst/>
          </a:prstGeom>
        </p:spPr>
      </p:pic>
      <p:sp>
        <p:nvSpPr>
          <p:cNvPr id="46" name="TextBox 46"/>
          <p:cNvSpPr txBox="1"/>
          <p:nvPr/>
        </p:nvSpPr>
        <p:spPr>
          <a:xfrm>
            <a:off x="731520" y="4058031"/>
            <a:ext cx="512064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Public benchmarks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including Grok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622528" y="5970146"/>
            <a:ext cx="512064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Major LLMs active in 2025 —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only 3 studied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1" dur="13269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62" repeatCount="indefinite" fill="hold" display="0">
                  <p:stCondLst>
                    <p:cond delay="indefinite"/>
                  </p:stCondLst>
                </p:cTn>
                <p:tgtEl>
                  <p:spTgt spid="45"/>
                </p:tgtEl>
              </p:cMediaNode>
            </p:video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7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Four Research Gaps This Study Closes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gap is a falsifiable absence of evidence — not a conceptual critique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3" y="2456183"/>
            <a:ext cx="8437883" cy="3225803"/>
            <a:chOff x="0" y="0"/>
            <a:chExt cx="11250511" cy="430107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1216640" cy="4267200"/>
            </a:xfrm>
            <a:custGeom>
              <a:avLst/>
              <a:gdLst/>
              <a:ahLst/>
              <a:cxnLst/>
              <a:rect l="l" t="t" r="r" b="b"/>
              <a:pathLst>
                <a:path w="11216640" h="4267200">
                  <a:moveTo>
                    <a:pt x="0" y="0"/>
                  </a:moveTo>
                  <a:lnTo>
                    <a:pt x="11216640" y="0"/>
                  </a:lnTo>
                  <a:lnTo>
                    <a:pt x="112166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1250422" cy="4300982"/>
            </a:xfrm>
            <a:custGeom>
              <a:avLst/>
              <a:gdLst/>
              <a:ahLst/>
              <a:cxnLst/>
              <a:rect l="l" t="t" r="r" b="b"/>
              <a:pathLst>
                <a:path w="11250422" h="430098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284091"/>
                  </a:lnTo>
                  <a:cubicBezTo>
                    <a:pt x="11250422" y="4293489"/>
                    <a:pt x="11242802" y="4300982"/>
                    <a:pt x="1123353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233531" y="4267200"/>
                  </a:lnTo>
                  <a:lnTo>
                    <a:pt x="11233531" y="4284091"/>
                  </a:lnTo>
                  <a:lnTo>
                    <a:pt x="11216640" y="428409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5943" y="2456183"/>
            <a:ext cx="153419" cy="3225803"/>
            <a:chOff x="0" y="0"/>
            <a:chExt cx="204559" cy="430107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204470" cy="4300982"/>
            </a:xfrm>
            <a:custGeom>
              <a:avLst/>
              <a:gdLst/>
              <a:ahLst/>
              <a:cxnLst/>
              <a:rect l="l" t="t" r="r" b="b"/>
              <a:pathLst>
                <a:path w="204470" h="43009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284091"/>
                  </a:lnTo>
                  <a:cubicBezTo>
                    <a:pt x="204470" y="4293489"/>
                    <a:pt x="196850" y="4300982"/>
                    <a:pt x="187579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87579" y="4267200"/>
                  </a:lnTo>
                  <a:lnTo>
                    <a:pt x="187579" y="4284091"/>
                  </a:lnTo>
                  <a:lnTo>
                    <a:pt x="170688" y="42840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77824" y="2688336"/>
            <a:ext cx="2194560" cy="512064"/>
            <a:chOff x="0" y="0"/>
            <a:chExt cx="292608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26080" cy="682752"/>
            </a:xfrm>
            <a:custGeom>
              <a:avLst/>
              <a:gdLst/>
              <a:ahLst/>
              <a:cxnLst/>
              <a:rect l="l" t="t" r="r" b="b"/>
              <a:pathLst>
                <a:path w="2926080" h="682752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9260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dirty="0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Gap 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7824" y="3163824"/>
            <a:ext cx="7680960" cy="585216"/>
            <a:chOff x="0" y="0"/>
            <a:chExt cx="10241280" cy="7802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41280" cy="780288"/>
            </a:xfrm>
            <a:custGeom>
              <a:avLst/>
              <a:gdLst/>
              <a:ahLst/>
              <a:cxnLst/>
              <a:rect l="l" t="t" r="r" b="b"/>
              <a:pathLst>
                <a:path w="10241280" h="780288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5741" b="-20574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Grok Absent from All Benchmarks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77824" y="3749040"/>
            <a:ext cx="7680960" cy="1737360"/>
            <a:chOff x="0" y="0"/>
            <a:chExt cx="10241280" cy="23164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41280" cy="2316480"/>
            </a:xfrm>
            <a:custGeom>
              <a:avLst/>
              <a:gdLst/>
              <a:ahLst/>
              <a:cxnLst/>
              <a:rect l="l" t="t" r="r" b="b"/>
              <a:pathLst>
                <a:path w="10241280" h="2316480">
                  <a:moveTo>
                    <a:pt x="0" y="0"/>
                  </a:moveTo>
                  <a:lnTo>
                    <a:pt x="10241280" y="0"/>
                  </a:lnTo>
                  <a:lnTo>
                    <a:pt x="102412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144" b="-3614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0241280" cy="2364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RAID, M4, DAIGT — every major dataset excludes Grok. Ye et al. (2025): classifiers trained on other 3 models achieve 0% on Grok. The gap is architectural, not marginal.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05623" y="2456183"/>
            <a:ext cx="8437883" cy="3225803"/>
            <a:chOff x="0" y="0"/>
            <a:chExt cx="11250511" cy="430107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1216640" cy="4267200"/>
            </a:xfrm>
            <a:custGeom>
              <a:avLst/>
              <a:gdLst/>
              <a:ahLst/>
              <a:cxnLst/>
              <a:rect l="l" t="t" r="r" b="b"/>
              <a:pathLst>
                <a:path w="11216640" h="4267200">
                  <a:moveTo>
                    <a:pt x="0" y="0"/>
                  </a:moveTo>
                  <a:lnTo>
                    <a:pt x="11216640" y="0"/>
                  </a:lnTo>
                  <a:lnTo>
                    <a:pt x="112166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11250422" cy="4300982"/>
            </a:xfrm>
            <a:custGeom>
              <a:avLst/>
              <a:gdLst/>
              <a:ahLst/>
              <a:cxnLst/>
              <a:rect l="l" t="t" r="r" b="b"/>
              <a:pathLst>
                <a:path w="11250422" h="430098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284091"/>
                  </a:lnTo>
                  <a:cubicBezTo>
                    <a:pt x="11250422" y="4293489"/>
                    <a:pt x="11242802" y="4300982"/>
                    <a:pt x="1123353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233531" y="4267200"/>
                  </a:lnTo>
                  <a:lnTo>
                    <a:pt x="11233531" y="4284091"/>
                  </a:lnTo>
                  <a:lnTo>
                    <a:pt x="11216640" y="428409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05623" y="2456183"/>
            <a:ext cx="153419" cy="3225803"/>
            <a:chOff x="0" y="0"/>
            <a:chExt cx="204559" cy="430107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204470" cy="4300982"/>
            </a:xfrm>
            <a:custGeom>
              <a:avLst/>
              <a:gdLst/>
              <a:ahLst/>
              <a:cxnLst/>
              <a:rect l="l" t="t" r="r" b="b"/>
              <a:pathLst>
                <a:path w="204470" h="43009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284091"/>
                  </a:lnTo>
                  <a:cubicBezTo>
                    <a:pt x="204470" y="4293489"/>
                    <a:pt x="196850" y="4300982"/>
                    <a:pt x="187579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87579" y="4267200"/>
                  </a:lnTo>
                  <a:lnTo>
                    <a:pt x="187579" y="4284091"/>
                  </a:lnTo>
                  <a:lnTo>
                    <a:pt x="170688" y="42840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47504" y="2688336"/>
            <a:ext cx="2194560" cy="512064"/>
            <a:chOff x="0" y="0"/>
            <a:chExt cx="2926080" cy="6827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926080" cy="682752"/>
            </a:xfrm>
            <a:custGeom>
              <a:avLst/>
              <a:gdLst/>
              <a:ahLst/>
              <a:cxnLst/>
              <a:rect l="l" t="t" r="r" b="b"/>
              <a:pathLst>
                <a:path w="2926080" h="682752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9260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dirty="0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Gap 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747504" y="3163824"/>
            <a:ext cx="7680960" cy="585216"/>
            <a:chOff x="0" y="0"/>
            <a:chExt cx="10241280" cy="78028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0" cy="780288"/>
            </a:xfrm>
            <a:custGeom>
              <a:avLst/>
              <a:gdLst/>
              <a:ahLst/>
              <a:cxnLst/>
              <a:rect l="l" t="t" r="r" b="b"/>
              <a:pathLst>
                <a:path w="10241280" h="780288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5741" b="-20574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Attribution Degradation Unstudied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747504" y="3749040"/>
            <a:ext cx="7680960" cy="1737360"/>
            <a:chOff x="0" y="0"/>
            <a:chExt cx="10241280" cy="23164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241280" cy="2316480"/>
            </a:xfrm>
            <a:custGeom>
              <a:avLst/>
              <a:gdLst/>
              <a:ahLst/>
              <a:cxnLst/>
              <a:rect l="l" t="t" r="r" b="b"/>
              <a:pathLst>
                <a:path w="10241280" h="2316480">
                  <a:moveTo>
                    <a:pt x="0" y="0"/>
                  </a:moveTo>
                  <a:lnTo>
                    <a:pt x="10241280" y="0"/>
                  </a:lnTo>
                  <a:lnTo>
                    <a:pt x="102412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144" b="-3614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10241280" cy="2364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Krishna et al. (2023) &amp; Zhang et al. (2025) measure detection degradation only. No study measures whether inter-model attribution — a harder 4-class problem — survives rewriting.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5943" y="6113783"/>
            <a:ext cx="8437883" cy="3225803"/>
            <a:chOff x="0" y="0"/>
            <a:chExt cx="11250511" cy="4301071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11216640" cy="4267200"/>
            </a:xfrm>
            <a:custGeom>
              <a:avLst/>
              <a:gdLst/>
              <a:ahLst/>
              <a:cxnLst/>
              <a:rect l="l" t="t" r="r" b="b"/>
              <a:pathLst>
                <a:path w="11216640" h="4267200">
                  <a:moveTo>
                    <a:pt x="0" y="0"/>
                  </a:moveTo>
                  <a:lnTo>
                    <a:pt x="11216640" y="0"/>
                  </a:lnTo>
                  <a:lnTo>
                    <a:pt x="112166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11250422" cy="4300982"/>
            </a:xfrm>
            <a:custGeom>
              <a:avLst/>
              <a:gdLst/>
              <a:ahLst/>
              <a:cxnLst/>
              <a:rect l="l" t="t" r="r" b="b"/>
              <a:pathLst>
                <a:path w="11250422" h="430098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284091"/>
                  </a:lnTo>
                  <a:cubicBezTo>
                    <a:pt x="11250422" y="4293489"/>
                    <a:pt x="11242802" y="4300982"/>
                    <a:pt x="1123353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233531" y="4267200"/>
                  </a:lnTo>
                  <a:lnTo>
                    <a:pt x="11233531" y="4284091"/>
                  </a:lnTo>
                  <a:lnTo>
                    <a:pt x="11216640" y="428409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5943" y="6113783"/>
            <a:ext cx="153419" cy="3225803"/>
            <a:chOff x="0" y="0"/>
            <a:chExt cx="204559" cy="4301071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204470" cy="4300982"/>
            </a:xfrm>
            <a:custGeom>
              <a:avLst/>
              <a:gdLst/>
              <a:ahLst/>
              <a:cxnLst/>
              <a:rect l="l" t="t" r="r" b="b"/>
              <a:pathLst>
                <a:path w="204470" h="43009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284091"/>
                  </a:lnTo>
                  <a:cubicBezTo>
                    <a:pt x="204470" y="4293489"/>
                    <a:pt x="196850" y="4300982"/>
                    <a:pt x="187579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87579" y="4267200"/>
                  </a:lnTo>
                  <a:lnTo>
                    <a:pt x="187579" y="4284091"/>
                  </a:lnTo>
                  <a:lnTo>
                    <a:pt x="170688" y="42840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77824" y="6345936"/>
            <a:ext cx="2194560" cy="512064"/>
            <a:chOff x="0" y="0"/>
            <a:chExt cx="2926080" cy="68275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926080" cy="682752"/>
            </a:xfrm>
            <a:custGeom>
              <a:avLst/>
              <a:gdLst/>
              <a:ahLst/>
              <a:cxnLst/>
              <a:rect l="l" t="t" r="r" b="b"/>
              <a:pathLst>
                <a:path w="2926080" h="682752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9260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dirty="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Gap 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77824" y="6821424"/>
            <a:ext cx="7680960" cy="585216"/>
            <a:chOff x="0" y="0"/>
            <a:chExt cx="10241280" cy="78028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241280" cy="780288"/>
            </a:xfrm>
            <a:custGeom>
              <a:avLst/>
              <a:gdLst/>
              <a:ahLst/>
              <a:cxnLst/>
              <a:rect l="l" t="t" r="r" b="b"/>
              <a:pathLst>
                <a:path w="10241280" h="780288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5741" b="-20574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Rewriting Tools Don't Reflect 2025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77824" y="7406640"/>
            <a:ext cx="7680960" cy="1737360"/>
            <a:chOff x="0" y="0"/>
            <a:chExt cx="10241280" cy="23164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241280" cy="2316480"/>
            </a:xfrm>
            <a:custGeom>
              <a:avLst/>
              <a:gdLst/>
              <a:ahLst/>
              <a:cxnLst/>
              <a:rect l="l" t="t" r="r" b="b"/>
              <a:pathLst>
                <a:path w="10241280" h="2316480">
                  <a:moveTo>
                    <a:pt x="0" y="0"/>
                  </a:moveTo>
                  <a:lnTo>
                    <a:pt x="10241280" y="0"/>
                  </a:lnTo>
                  <a:lnTo>
                    <a:pt x="102412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144" b="-3614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10241280" cy="2364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existing studies use T5 paraphrasers (parrot, DIPPER). Students in 2025 use instruction-following LLMs. Degradation estimates from T5 tools are not generalisable to current student behaviour.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405623" y="6113783"/>
            <a:ext cx="8437883" cy="3225803"/>
            <a:chOff x="0" y="0"/>
            <a:chExt cx="11250511" cy="4301071"/>
          </a:xfrm>
        </p:grpSpPr>
        <p:sp>
          <p:nvSpPr>
            <p:cNvPr id="60" name="Freeform 60"/>
            <p:cNvSpPr/>
            <p:nvPr/>
          </p:nvSpPr>
          <p:spPr>
            <a:xfrm>
              <a:off x="16891" y="16891"/>
              <a:ext cx="11216640" cy="4267200"/>
            </a:xfrm>
            <a:custGeom>
              <a:avLst/>
              <a:gdLst/>
              <a:ahLst/>
              <a:cxnLst/>
              <a:rect l="l" t="t" r="r" b="b"/>
              <a:pathLst>
                <a:path w="11216640" h="4267200">
                  <a:moveTo>
                    <a:pt x="0" y="0"/>
                  </a:moveTo>
                  <a:lnTo>
                    <a:pt x="11216640" y="0"/>
                  </a:lnTo>
                  <a:lnTo>
                    <a:pt x="112166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0" y="0"/>
              <a:ext cx="11250422" cy="4300982"/>
            </a:xfrm>
            <a:custGeom>
              <a:avLst/>
              <a:gdLst/>
              <a:ahLst/>
              <a:cxnLst/>
              <a:rect l="l" t="t" r="r" b="b"/>
              <a:pathLst>
                <a:path w="11250422" h="430098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284091"/>
                  </a:lnTo>
                  <a:cubicBezTo>
                    <a:pt x="11250422" y="4293489"/>
                    <a:pt x="11242802" y="4300982"/>
                    <a:pt x="1123353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233531" y="4267200"/>
                  </a:lnTo>
                  <a:lnTo>
                    <a:pt x="11233531" y="4284091"/>
                  </a:lnTo>
                  <a:lnTo>
                    <a:pt x="11216640" y="428409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405623" y="6113783"/>
            <a:ext cx="153419" cy="3225803"/>
            <a:chOff x="0" y="0"/>
            <a:chExt cx="204559" cy="4301071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0" y="0"/>
              <a:ext cx="204470" cy="4300982"/>
            </a:xfrm>
            <a:custGeom>
              <a:avLst/>
              <a:gdLst/>
              <a:ahLst/>
              <a:cxnLst/>
              <a:rect l="l" t="t" r="r" b="b"/>
              <a:pathLst>
                <a:path w="204470" h="43009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284091"/>
                  </a:lnTo>
                  <a:cubicBezTo>
                    <a:pt x="204470" y="4293489"/>
                    <a:pt x="196850" y="4300982"/>
                    <a:pt x="187579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87579" y="4267200"/>
                  </a:lnTo>
                  <a:lnTo>
                    <a:pt x="187579" y="4284091"/>
                  </a:lnTo>
                  <a:lnTo>
                    <a:pt x="170688" y="42840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747504" y="6345936"/>
            <a:ext cx="2194560" cy="512064"/>
            <a:chOff x="0" y="0"/>
            <a:chExt cx="2926080" cy="68275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926080" cy="682752"/>
            </a:xfrm>
            <a:custGeom>
              <a:avLst/>
              <a:gdLst/>
              <a:ahLst/>
              <a:cxnLst/>
              <a:rect l="l" t="t" r="r" b="b"/>
              <a:pathLst>
                <a:path w="2926080" h="682752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29260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dirty="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Gap 4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747504" y="6821424"/>
            <a:ext cx="7680960" cy="585216"/>
            <a:chOff x="0" y="0"/>
            <a:chExt cx="10241280" cy="78028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241280" cy="780288"/>
            </a:xfrm>
            <a:custGeom>
              <a:avLst/>
              <a:gdLst/>
              <a:ahLst/>
              <a:cxnLst/>
              <a:rect l="l" t="t" r="r" b="b"/>
              <a:pathLst>
                <a:path w="10241280" h="780288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5741" b="-20574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Feature Survival Analysis Exists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747504" y="7406640"/>
            <a:ext cx="7680960" cy="1737360"/>
            <a:chOff x="0" y="0"/>
            <a:chExt cx="10241280" cy="231648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0241280" cy="2316480"/>
            </a:xfrm>
            <a:custGeom>
              <a:avLst/>
              <a:gdLst/>
              <a:ahLst/>
              <a:cxnLst/>
              <a:rect l="l" t="t" r="r" b="b"/>
              <a:pathLst>
                <a:path w="10241280" h="2316480">
                  <a:moveTo>
                    <a:pt x="0" y="0"/>
                  </a:moveTo>
                  <a:lnTo>
                    <a:pt x="10241280" y="0"/>
                  </a:lnTo>
                  <a:lnTo>
                    <a:pt x="102412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144" b="-3614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10241280" cy="2364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 if accuracy degrades, some features may survive rewriting. No attribution study has conducted SHAP-based feature survival analysis to identify which are edit-resistant.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Questions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Four questions — each closing a specific identified gap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3" y="2456183"/>
            <a:ext cx="1397003" cy="1525019"/>
            <a:chOff x="0" y="0"/>
            <a:chExt cx="1862671" cy="203335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828800" cy="1999488"/>
            </a:xfrm>
            <a:custGeom>
              <a:avLst/>
              <a:gdLst/>
              <a:ahLst/>
              <a:cxnLst/>
              <a:rect l="l" t="t" r="r" b="b"/>
              <a:pathLst>
                <a:path w="1828800" h="1999488">
                  <a:moveTo>
                    <a:pt x="0" y="0"/>
                  </a:moveTo>
                  <a:lnTo>
                    <a:pt x="1828800" y="0"/>
                  </a:lnTo>
                  <a:lnTo>
                    <a:pt x="1828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862582" cy="2033270"/>
            </a:xfrm>
            <a:custGeom>
              <a:avLst/>
              <a:gdLst/>
              <a:ahLst/>
              <a:cxnLst/>
              <a:rect l="l" t="t" r="r" b="b"/>
              <a:pathLst>
                <a:path w="1862582" h="2033270">
                  <a:moveTo>
                    <a:pt x="16891" y="0"/>
                  </a:moveTo>
                  <a:lnTo>
                    <a:pt x="1845691" y="0"/>
                  </a:lnTo>
                  <a:cubicBezTo>
                    <a:pt x="1855089" y="0"/>
                    <a:pt x="1862582" y="7620"/>
                    <a:pt x="1862582" y="16891"/>
                  </a:cubicBezTo>
                  <a:lnTo>
                    <a:pt x="1862582" y="2016379"/>
                  </a:lnTo>
                  <a:cubicBezTo>
                    <a:pt x="1862582" y="2025777"/>
                    <a:pt x="1854962" y="2033270"/>
                    <a:pt x="1845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845691" y="1999488"/>
                  </a:lnTo>
                  <a:lnTo>
                    <a:pt x="1845691" y="2016379"/>
                  </a:lnTo>
                  <a:lnTo>
                    <a:pt x="1828800" y="2016379"/>
                  </a:lnTo>
                  <a:lnTo>
                    <a:pt x="1828800" y="16891"/>
                  </a:lnTo>
                  <a:lnTo>
                    <a:pt x="1845691" y="16891"/>
                  </a:lnTo>
                  <a:lnTo>
                    <a:pt x="1845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8640" y="2468880"/>
            <a:ext cx="1371600" cy="1499616"/>
            <a:chOff x="0" y="0"/>
            <a:chExt cx="1828800" cy="19994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28800" cy="1999488"/>
            </a:xfrm>
            <a:custGeom>
              <a:avLst/>
              <a:gdLst/>
              <a:ahLst/>
              <a:cxnLst/>
              <a:rect l="l" t="t" r="r" b="b"/>
              <a:pathLst>
                <a:path w="1828800" h="1999488">
                  <a:moveTo>
                    <a:pt x="0" y="0"/>
                  </a:moveTo>
                  <a:lnTo>
                    <a:pt x="1828800" y="0"/>
                  </a:lnTo>
                  <a:lnTo>
                    <a:pt x="18288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278" r="-902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828800" cy="2056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RQ1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035559" y="2456183"/>
            <a:ext cx="15570203" cy="1525019"/>
            <a:chOff x="0" y="0"/>
            <a:chExt cx="20760271" cy="2033359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20726399" cy="1999488"/>
            </a:xfrm>
            <a:custGeom>
              <a:avLst/>
              <a:gdLst/>
              <a:ahLst/>
              <a:cxnLst/>
              <a:rect l="l" t="t" r="r" b="b"/>
              <a:pathLst>
                <a:path w="20726399" h="1999488">
                  <a:moveTo>
                    <a:pt x="0" y="0"/>
                  </a:moveTo>
                  <a:lnTo>
                    <a:pt x="20726399" y="0"/>
                  </a:lnTo>
                  <a:lnTo>
                    <a:pt x="207263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20760182" cy="2033270"/>
            </a:xfrm>
            <a:custGeom>
              <a:avLst/>
              <a:gdLst/>
              <a:ahLst/>
              <a:cxnLst/>
              <a:rect l="l" t="t" r="r" b="b"/>
              <a:pathLst>
                <a:path w="20760182" h="2033270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2016379"/>
                  </a:lnTo>
                  <a:cubicBezTo>
                    <a:pt x="20760182" y="2025777"/>
                    <a:pt x="20752563" y="2033270"/>
                    <a:pt x="207432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0743290" y="1999488"/>
                  </a:lnTo>
                  <a:lnTo>
                    <a:pt x="20743290" y="2016379"/>
                  </a:lnTo>
                  <a:lnTo>
                    <a:pt x="20726400" y="2016379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31136" y="2560320"/>
            <a:ext cx="12527280" cy="1316736"/>
            <a:chOff x="0" y="0"/>
            <a:chExt cx="16703040" cy="17556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703039" cy="1755648"/>
            </a:xfrm>
            <a:custGeom>
              <a:avLst/>
              <a:gdLst/>
              <a:ahLst/>
              <a:cxnLst/>
              <a:rect l="l" t="t" r="r" b="b"/>
              <a:pathLst>
                <a:path w="16703039" h="1755648">
                  <a:moveTo>
                    <a:pt x="0" y="0"/>
                  </a:moveTo>
                  <a:lnTo>
                    <a:pt x="16703039" y="0"/>
                  </a:lnTo>
                  <a:lnTo>
                    <a:pt x="167030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378" b="-1353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670304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the baseline inter-model attribution accuracy across ChatGPT, Claude, Gemini, and Grok using combined stylometric and PCA-compressed SentenceTransformer features, evaluated through 5-fold stratified cross-validation?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892023" y="2858519"/>
            <a:ext cx="2494283" cy="665483"/>
            <a:chOff x="0" y="0"/>
            <a:chExt cx="3325711" cy="88731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3291840" cy="853440"/>
            </a:xfrm>
            <a:custGeom>
              <a:avLst/>
              <a:gdLst/>
              <a:ahLst/>
              <a:cxnLst/>
              <a:rect l="l" t="t" r="r" b="b"/>
              <a:pathLst>
                <a:path w="3291840" h="8534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A8DAD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3325622" cy="887224"/>
            </a:xfrm>
            <a:custGeom>
              <a:avLst/>
              <a:gdLst/>
              <a:ahLst/>
              <a:cxnLst/>
              <a:rect l="l" t="t" r="r" b="b"/>
              <a:pathLst>
                <a:path w="3325622" h="887224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870331"/>
                  </a:lnTo>
                  <a:cubicBezTo>
                    <a:pt x="3325622" y="879729"/>
                    <a:pt x="3318002" y="887222"/>
                    <a:pt x="33087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3308731" y="853440"/>
                  </a:lnTo>
                  <a:lnTo>
                    <a:pt x="3308731" y="870331"/>
                  </a:lnTo>
                  <a:lnTo>
                    <a:pt x="3291840" y="870331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904720" y="2871216"/>
            <a:ext cx="2468880" cy="640080"/>
            <a:chOff x="0" y="0"/>
            <a:chExt cx="3291840" cy="8534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91840" cy="853440"/>
            </a:xfrm>
            <a:custGeom>
              <a:avLst/>
              <a:gdLst/>
              <a:ahLst/>
              <a:cxnLst/>
              <a:rect l="l" t="t" r="r" b="b"/>
              <a:pathLst>
                <a:path w="3291840" h="8534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56" b="-2515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2918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Closes Gap 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5943" y="4321559"/>
            <a:ext cx="1397003" cy="1525019"/>
            <a:chOff x="0" y="0"/>
            <a:chExt cx="1862671" cy="2033359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1828800" cy="1999488"/>
            </a:xfrm>
            <a:custGeom>
              <a:avLst/>
              <a:gdLst/>
              <a:ahLst/>
              <a:cxnLst/>
              <a:rect l="l" t="t" r="r" b="b"/>
              <a:pathLst>
                <a:path w="1828800" h="1999488">
                  <a:moveTo>
                    <a:pt x="0" y="0"/>
                  </a:moveTo>
                  <a:lnTo>
                    <a:pt x="1828800" y="0"/>
                  </a:lnTo>
                  <a:lnTo>
                    <a:pt x="1828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1862582" cy="2033270"/>
            </a:xfrm>
            <a:custGeom>
              <a:avLst/>
              <a:gdLst/>
              <a:ahLst/>
              <a:cxnLst/>
              <a:rect l="l" t="t" r="r" b="b"/>
              <a:pathLst>
                <a:path w="1862582" h="2033270">
                  <a:moveTo>
                    <a:pt x="16891" y="0"/>
                  </a:moveTo>
                  <a:lnTo>
                    <a:pt x="1845691" y="0"/>
                  </a:lnTo>
                  <a:cubicBezTo>
                    <a:pt x="1855089" y="0"/>
                    <a:pt x="1862582" y="7620"/>
                    <a:pt x="1862582" y="16891"/>
                  </a:cubicBezTo>
                  <a:lnTo>
                    <a:pt x="1862582" y="2016379"/>
                  </a:lnTo>
                  <a:cubicBezTo>
                    <a:pt x="1862582" y="2025777"/>
                    <a:pt x="1854962" y="2033270"/>
                    <a:pt x="1845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845691" y="1999488"/>
                  </a:lnTo>
                  <a:lnTo>
                    <a:pt x="1845691" y="2016379"/>
                  </a:lnTo>
                  <a:lnTo>
                    <a:pt x="1828800" y="2016379"/>
                  </a:lnTo>
                  <a:lnTo>
                    <a:pt x="1828800" y="16891"/>
                  </a:lnTo>
                  <a:lnTo>
                    <a:pt x="1845691" y="16891"/>
                  </a:lnTo>
                  <a:lnTo>
                    <a:pt x="1845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48640" y="4334256"/>
            <a:ext cx="1371600" cy="1499616"/>
            <a:chOff x="0" y="0"/>
            <a:chExt cx="1828800" cy="19994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828800" cy="1999488"/>
            </a:xfrm>
            <a:custGeom>
              <a:avLst/>
              <a:gdLst/>
              <a:ahLst/>
              <a:cxnLst/>
              <a:rect l="l" t="t" r="r" b="b"/>
              <a:pathLst>
                <a:path w="1828800" h="1999488">
                  <a:moveTo>
                    <a:pt x="0" y="0"/>
                  </a:moveTo>
                  <a:lnTo>
                    <a:pt x="1828800" y="0"/>
                  </a:lnTo>
                  <a:lnTo>
                    <a:pt x="18288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278" r="-902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828800" cy="2056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RQ2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035559" y="4321559"/>
            <a:ext cx="15570203" cy="1525019"/>
            <a:chOff x="0" y="0"/>
            <a:chExt cx="20760271" cy="2033359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20726399" cy="1999488"/>
            </a:xfrm>
            <a:custGeom>
              <a:avLst/>
              <a:gdLst/>
              <a:ahLst/>
              <a:cxnLst/>
              <a:rect l="l" t="t" r="r" b="b"/>
              <a:pathLst>
                <a:path w="20726399" h="1999488">
                  <a:moveTo>
                    <a:pt x="0" y="0"/>
                  </a:moveTo>
                  <a:lnTo>
                    <a:pt x="20726399" y="0"/>
                  </a:lnTo>
                  <a:lnTo>
                    <a:pt x="207263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20760182" cy="2033270"/>
            </a:xfrm>
            <a:custGeom>
              <a:avLst/>
              <a:gdLst/>
              <a:ahLst/>
              <a:cxnLst/>
              <a:rect l="l" t="t" r="r" b="b"/>
              <a:pathLst>
                <a:path w="20760182" h="2033270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2016379"/>
                  </a:lnTo>
                  <a:cubicBezTo>
                    <a:pt x="20760182" y="2025777"/>
                    <a:pt x="20752563" y="2033270"/>
                    <a:pt x="207432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0743290" y="1999488"/>
                  </a:lnTo>
                  <a:lnTo>
                    <a:pt x="20743290" y="2016379"/>
                  </a:lnTo>
                  <a:lnTo>
                    <a:pt x="20726400" y="2016379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231136" y="4425696"/>
            <a:ext cx="12527280" cy="1316736"/>
            <a:chOff x="0" y="0"/>
            <a:chExt cx="16703040" cy="17556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6703039" cy="1755648"/>
            </a:xfrm>
            <a:custGeom>
              <a:avLst/>
              <a:gdLst/>
              <a:ahLst/>
              <a:cxnLst/>
              <a:rect l="l" t="t" r="r" b="b"/>
              <a:pathLst>
                <a:path w="16703039" h="1755648">
                  <a:moveTo>
                    <a:pt x="0" y="0"/>
                  </a:moveTo>
                  <a:lnTo>
                    <a:pt x="16703039" y="0"/>
                  </a:lnTo>
                  <a:lnTo>
                    <a:pt x="167030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378" b="-1353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1670304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does LLM-based rewriting affect attribution accuracy at light (~40%) and heavy (~65%) edit levels, and at what threshold does attribution fall below 25% chance-level performance?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892023" y="4723895"/>
            <a:ext cx="2494283" cy="665483"/>
            <a:chOff x="0" y="0"/>
            <a:chExt cx="3325711" cy="887311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3291840" cy="853440"/>
            </a:xfrm>
            <a:custGeom>
              <a:avLst/>
              <a:gdLst/>
              <a:ahLst/>
              <a:cxnLst/>
              <a:rect l="l" t="t" r="r" b="b"/>
              <a:pathLst>
                <a:path w="3291840" h="8534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A8DAD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3325622" cy="887224"/>
            </a:xfrm>
            <a:custGeom>
              <a:avLst/>
              <a:gdLst/>
              <a:ahLst/>
              <a:cxnLst/>
              <a:rect l="l" t="t" r="r" b="b"/>
              <a:pathLst>
                <a:path w="3325622" h="887224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870331"/>
                  </a:lnTo>
                  <a:cubicBezTo>
                    <a:pt x="3325622" y="879729"/>
                    <a:pt x="3318002" y="887222"/>
                    <a:pt x="33087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3308731" y="853440"/>
                  </a:lnTo>
                  <a:lnTo>
                    <a:pt x="3308731" y="870331"/>
                  </a:lnTo>
                  <a:lnTo>
                    <a:pt x="3291840" y="870331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904720" y="4736592"/>
            <a:ext cx="2468880" cy="640080"/>
            <a:chOff x="0" y="0"/>
            <a:chExt cx="3291840" cy="8534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291840" cy="853440"/>
            </a:xfrm>
            <a:custGeom>
              <a:avLst/>
              <a:gdLst/>
              <a:ahLst/>
              <a:cxnLst/>
              <a:rect l="l" t="t" r="r" b="b"/>
              <a:pathLst>
                <a:path w="3291840" h="8534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56" b="-2515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32918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Closes Gap 2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5943" y="6186935"/>
            <a:ext cx="1397003" cy="1525019"/>
            <a:chOff x="0" y="0"/>
            <a:chExt cx="1862671" cy="2033359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1828800" cy="1999488"/>
            </a:xfrm>
            <a:custGeom>
              <a:avLst/>
              <a:gdLst/>
              <a:ahLst/>
              <a:cxnLst/>
              <a:rect l="l" t="t" r="r" b="b"/>
              <a:pathLst>
                <a:path w="1828800" h="1999488">
                  <a:moveTo>
                    <a:pt x="0" y="0"/>
                  </a:moveTo>
                  <a:lnTo>
                    <a:pt x="1828800" y="0"/>
                  </a:lnTo>
                  <a:lnTo>
                    <a:pt x="1828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1862582" cy="2033270"/>
            </a:xfrm>
            <a:custGeom>
              <a:avLst/>
              <a:gdLst/>
              <a:ahLst/>
              <a:cxnLst/>
              <a:rect l="l" t="t" r="r" b="b"/>
              <a:pathLst>
                <a:path w="1862582" h="2033270">
                  <a:moveTo>
                    <a:pt x="16891" y="0"/>
                  </a:moveTo>
                  <a:lnTo>
                    <a:pt x="1845691" y="0"/>
                  </a:lnTo>
                  <a:cubicBezTo>
                    <a:pt x="1855089" y="0"/>
                    <a:pt x="1862582" y="7620"/>
                    <a:pt x="1862582" y="16891"/>
                  </a:cubicBezTo>
                  <a:lnTo>
                    <a:pt x="1862582" y="2016379"/>
                  </a:lnTo>
                  <a:cubicBezTo>
                    <a:pt x="1862582" y="2025777"/>
                    <a:pt x="1854962" y="2033270"/>
                    <a:pt x="1845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845691" y="1999488"/>
                  </a:lnTo>
                  <a:lnTo>
                    <a:pt x="1845691" y="2016379"/>
                  </a:lnTo>
                  <a:lnTo>
                    <a:pt x="1828800" y="2016379"/>
                  </a:lnTo>
                  <a:lnTo>
                    <a:pt x="1828800" y="16891"/>
                  </a:lnTo>
                  <a:lnTo>
                    <a:pt x="1845691" y="16891"/>
                  </a:lnTo>
                  <a:lnTo>
                    <a:pt x="1845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48640" y="6199632"/>
            <a:ext cx="1371600" cy="1499616"/>
            <a:chOff x="0" y="0"/>
            <a:chExt cx="1828800" cy="199948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828800" cy="1999488"/>
            </a:xfrm>
            <a:custGeom>
              <a:avLst/>
              <a:gdLst/>
              <a:ahLst/>
              <a:cxnLst/>
              <a:rect l="l" t="t" r="r" b="b"/>
              <a:pathLst>
                <a:path w="1828800" h="1999488">
                  <a:moveTo>
                    <a:pt x="0" y="0"/>
                  </a:moveTo>
                  <a:lnTo>
                    <a:pt x="1828800" y="0"/>
                  </a:lnTo>
                  <a:lnTo>
                    <a:pt x="18288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278" r="-902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1828800" cy="2056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RQ3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035559" y="6186935"/>
            <a:ext cx="15570203" cy="1525019"/>
            <a:chOff x="0" y="0"/>
            <a:chExt cx="20760271" cy="2033359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20726399" cy="1999488"/>
            </a:xfrm>
            <a:custGeom>
              <a:avLst/>
              <a:gdLst/>
              <a:ahLst/>
              <a:cxnLst/>
              <a:rect l="l" t="t" r="r" b="b"/>
              <a:pathLst>
                <a:path w="20726399" h="1999488">
                  <a:moveTo>
                    <a:pt x="0" y="0"/>
                  </a:moveTo>
                  <a:lnTo>
                    <a:pt x="20726399" y="0"/>
                  </a:lnTo>
                  <a:lnTo>
                    <a:pt x="207263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0" y="0"/>
              <a:ext cx="20760182" cy="2033270"/>
            </a:xfrm>
            <a:custGeom>
              <a:avLst/>
              <a:gdLst/>
              <a:ahLst/>
              <a:cxnLst/>
              <a:rect l="l" t="t" r="r" b="b"/>
              <a:pathLst>
                <a:path w="20760182" h="2033270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2016379"/>
                  </a:lnTo>
                  <a:cubicBezTo>
                    <a:pt x="20760182" y="2025777"/>
                    <a:pt x="20752563" y="2033270"/>
                    <a:pt x="207432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0743290" y="1999488"/>
                  </a:lnTo>
                  <a:lnTo>
                    <a:pt x="20743290" y="2016379"/>
                  </a:lnTo>
                  <a:lnTo>
                    <a:pt x="20726400" y="2016379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231136" y="6291072"/>
            <a:ext cx="12527280" cy="1316736"/>
            <a:chOff x="0" y="0"/>
            <a:chExt cx="16703040" cy="175564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6703039" cy="1755648"/>
            </a:xfrm>
            <a:custGeom>
              <a:avLst/>
              <a:gdLst/>
              <a:ahLst/>
              <a:cxnLst/>
              <a:rect l="l" t="t" r="r" b="b"/>
              <a:pathLst>
                <a:path w="16703039" h="1755648">
                  <a:moveTo>
                    <a:pt x="0" y="0"/>
                  </a:moveTo>
                  <a:lnTo>
                    <a:pt x="16703039" y="0"/>
                  </a:lnTo>
                  <a:lnTo>
                    <a:pt x="167030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378" b="-1353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1670304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Which of the 8 stylometric features retain greatest discriminative power under rewriting (SHAP survival)? Does overall semantic signal survive at comparable levels? — Two distinct interpretability levels maintained.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892023" y="6589271"/>
            <a:ext cx="2494283" cy="665483"/>
            <a:chOff x="0" y="0"/>
            <a:chExt cx="3325711" cy="887311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3291840" cy="853440"/>
            </a:xfrm>
            <a:custGeom>
              <a:avLst/>
              <a:gdLst/>
              <a:ahLst/>
              <a:cxnLst/>
              <a:rect l="l" t="t" r="r" b="b"/>
              <a:pathLst>
                <a:path w="3291840" h="8534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A8DAD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0" y="0"/>
              <a:ext cx="3325622" cy="887224"/>
            </a:xfrm>
            <a:custGeom>
              <a:avLst/>
              <a:gdLst/>
              <a:ahLst/>
              <a:cxnLst/>
              <a:rect l="l" t="t" r="r" b="b"/>
              <a:pathLst>
                <a:path w="3325622" h="887224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870331"/>
                  </a:lnTo>
                  <a:cubicBezTo>
                    <a:pt x="3325622" y="879729"/>
                    <a:pt x="3318002" y="887222"/>
                    <a:pt x="33087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3308731" y="853440"/>
                  </a:lnTo>
                  <a:lnTo>
                    <a:pt x="3308731" y="870331"/>
                  </a:lnTo>
                  <a:lnTo>
                    <a:pt x="3291840" y="870331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4904720" y="6601968"/>
            <a:ext cx="2468880" cy="640080"/>
            <a:chOff x="0" y="0"/>
            <a:chExt cx="3291840" cy="8534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291840" cy="853440"/>
            </a:xfrm>
            <a:custGeom>
              <a:avLst/>
              <a:gdLst/>
              <a:ahLst/>
              <a:cxnLst/>
              <a:rect l="l" t="t" r="r" b="b"/>
              <a:pathLst>
                <a:path w="3291840" h="8534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56" b="-2515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32918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Closes Gap 4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35943" y="8052311"/>
            <a:ext cx="1397003" cy="1525019"/>
            <a:chOff x="0" y="0"/>
            <a:chExt cx="1862671" cy="2033359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828800" cy="1999488"/>
            </a:xfrm>
            <a:custGeom>
              <a:avLst/>
              <a:gdLst/>
              <a:ahLst/>
              <a:cxnLst/>
              <a:rect l="l" t="t" r="r" b="b"/>
              <a:pathLst>
                <a:path w="1828800" h="1999488">
                  <a:moveTo>
                    <a:pt x="0" y="0"/>
                  </a:moveTo>
                  <a:lnTo>
                    <a:pt x="1828800" y="0"/>
                  </a:lnTo>
                  <a:lnTo>
                    <a:pt x="182880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0"/>
              <a:ext cx="1862582" cy="2033270"/>
            </a:xfrm>
            <a:custGeom>
              <a:avLst/>
              <a:gdLst/>
              <a:ahLst/>
              <a:cxnLst/>
              <a:rect l="l" t="t" r="r" b="b"/>
              <a:pathLst>
                <a:path w="1862582" h="2033270">
                  <a:moveTo>
                    <a:pt x="16891" y="0"/>
                  </a:moveTo>
                  <a:lnTo>
                    <a:pt x="1845691" y="0"/>
                  </a:lnTo>
                  <a:cubicBezTo>
                    <a:pt x="1855089" y="0"/>
                    <a:pt x="1862582" y="7620"/>
                    <a:pt x="1862582" y="16891"/>
                  </a:cubicBezTo>
                  <a:lnTo>
                    <a:pt x="1862582" y="2016379"/>
                  </a:lnTo>
                  <a:cubicBezTo>
                    <a:pt x="1862582" y="2025777"/>
                    <a:pt x="1854962" y="2033270"/>
                    <a:pt x="184569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845691" y="1999488"/>
                  </a:lnTo>
                  <a:lnTo>
                    <a:pt x="1845691" y="2016379"/>
                  </a:lnTo>
                  <a:lnTo>
                    <a:pt x="1828800" y="2016379"/>
                  </a:lnTo>
                  <a:lnTo>
                    <a:pt x="1828800" y="16891"/>
                  </a:lnTo>
                  <a:lnTo>
                    <a:pt x="1845691" y="16891"/>
                  </a:lnTo>
                  <a:lnTo>
                    <a:pt x="1845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48640" y="8065008"/>
            <a:ext cx="1371600" cy="1499616"/>
            <a:chOff x="0" y="0"/>
            <a:chExt cx="1828800" cy="199948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828800" cy="1999488"/>
            </a:xfrm>
            <a:custGeom>
              <a:avLst/>
              <a:gdLst/>
              <a:ahLst/>
              <a:cxnLst/>
              <a:rect l="l" t="t" r="r" b="b"/>
              <a:pathLst>
                <a:path w="1828800" h="1999488">
                  <a:moveTo>
                    <a:pt x="0" y="0"/>
                  </a:moveTo>
                  <a:lnTo>
                    <a:pt x="1828800" y="0"/>
                  </a:lnTo>
                  <a:lnTo>
                    <a:pt x="18288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278" r="-902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57150"/>
              <a:ext cx="1828800" cy="2056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RQ4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035559" y="8052311"/>
            <a:ext cx="15570203" cy="1525019"/>
            <a:chOff x="0" y="0"/>
            <a:chExt cx="20760271" cy="2033359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20726399" cy="1999488"/>
            </a:xfrm>
            <a:custGeom>
              <a:avLst/>
              <a:gdLst/>
              <a:ahLst/>
              <a:cxnLst/>
              <a:rect l="l" t="t" r="r" b="b"/>
              <a:pathLst>
                <a:path w="20726399" h="1999488">
                  <a:moveTo>
                    <a:pt x="0" y="0"/>
                  </a:moveTo>
                  <a:lnTo>
                    <a:pt x="20726399" y="0"/>
                  </a:lnTo>
                  <a:lnTo>
                    <a:pt x="207263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6" name="Freeform 76"/>
            <p:cNvSpPr/>
            <p:nvPr/>
          </p:nvSpPr>
          <p:spPr>
            <a:xfrm>
              <a:off x="0" y="0"/>
              <a:ext cx="20760182" cy="2033270"/>
            </a:xfrm>
            <a:custGeom>
              <a:avLst/>
              <a:gdLst/>
              <a:ahLst/>
              <a:cxnLst/>
              <a:rect l="l" t="t" r="r" b="b"/>
              <a:pathLst>
                <a:path w="20760182" h="2033270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2016379"/>
                  </a:lnTo>
                  <a:cubicBezTo>
                    <a:pt x="20760182" y="2025777"/>
                    <a:pt x="20752563" y="2033270"/>
                    <a:pt x="207432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0743290" y="1999488"/>
                  </a:lnTo>
                  <a:lnTo>
                    <a:pt x="20743290" y="2016379"/>
                  </a:lnTo>
                  <a:lnTo>
                    <a:pt x="20726400" y="2016379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2231136" y="8156448"/>
            <a:ext cx="12527280" cy="1316736"/>
            <a:chOff x="0" y="0"/>
            <a:chExt cx="16703040" cy="175564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6703039" cy="1755648"/>
            </a:xfrm>
            <a:custGeom>
              <a:avLst/>
              <a:gdLst/>
              <a:ahLst/>
              <a:cxnLst/>
              <a:rect l="l" t="t" r="r" b="b"/>
              <a:pathLst>
                <a:path w="16703039" h="1755648">
                  <a:moveTo>
                    <a:pt x="0" y="0"/>
                  </a:moveTo>
                  <a:lnTo>
                    <a:pt x="16703039" y="0"/>
                  </a:lnTo>
                  <a:lnTo>
                    <a:pt x="167030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378" b="-1353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1670304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Does a combined stylometric + PCA-semantic feature set outperform either type alone, using XGBoost as constant baseline classifier to isolate feature-type effects from classifier effects?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4892023" y="8454647"/>
            <a:ext cx="2494283" cy="665483"/>
            <a:chOff x="0" y="0"/>
            <a:chExt cx="3325711" cy="887311"/>
          </a:xfrm>
        </p:grpSpPr>
        <p:sp>
          <p:nvSpPr>
            <p:cNvPr id="81" name="Freeform 81"/>
            <p:cNvSpPr/>
            <p:nvPr/>
          </p:nvSpPr>
          <p:spPr>
            <a:xfrm>
              <a:off x="16891" y="16891"/>
              <a:ext cx="3291840" cy="853440"/>
            </a:xfrm>
            <a:custGeom>
              <a:avLst/>
              <a:gdLst/>
              <a:ahLst/>
              <a:cxnLst/>
              <a:rect l="l" t="t" r="r" b="b"/>
              <a:pathLst>
                <a:path w="3291840" h="8534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A8DAD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2" name="Freeform 82"/>
            <p:cNvSpPr/>
            <p:nvPr/>
          </p:nvSpPr>
          <p:spPr>
            <a:xfrm>
              <a:off x="0" y="0"/>
              <a:ext cx="3325622" cy="887224"/>
            </a:xfrm>
            <a:custGeom>
              <a:avLst/>
              <a:gdLst/>
              <a:ahLst/>
              <a:cxnLst/>
              <a:rect l="l" t="t" r="r" b="b"/>
              <a:pathLst>
                <a:path w="3325622" h="887224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870331"/>
                  </a:lnTo>
                  <a:cubicBezTo>
                    <a:pt x="3325622" y="879729"/>
                    <a:pt x="3318002" y="887222"/>
                    <a:pt x="33087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3308731" y="853440"/>
                  </a:lnTo>
                  <a:lnTo>
                    <a:pt x="3308731" y="870331"/>
                  </a:lnTo>
                  <a:lnTo>
                    <a:pt x="3291840" y="870331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4904720" y="8467344"/>
            <a:ext cx="2468880" cy="640080"/>
            <a:chOff x="0" y="0"/>
            <a:chExt cx="3291840" cy="85344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291840" cy="853440"/>
            </a:xfrm>
            <a:custGeom>
              <a:avLst/>
              <a:gdLst/>
              <a:ahLst/>
              <a:cxnLst/>
              <a:rect l="l" t="t" r="r" b="b"/>
              <a:pathLst>
                <a:path w="3291840" h="8534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56" b="-2515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32918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Closes Gap 4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Related Works — What Exists vs What's Missing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prior study fails on at least one of the four gaps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48640" y="2340864"/>
          <a:ext cx="15341601" cy="5867400"/>
        </p:xfrm>
        <a:graphic>
          <a:graphicData uri="http://schemas.openxmlformats.org/drawingml/2006/table">
            <a:tbl>
              <a:tblPr/>
              <a:tblGrid>
                <a:gridCol w="5821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7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2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2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Study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Grok?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Rewriting?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Attribution?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Rewriter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RAID (Chen et al., 2024)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6B72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N/A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M4 (Wang et al., 2024)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6B72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N/A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Argasinski et al. (2025)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973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Partial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6B72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N/A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Krishna et al. (2023)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973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Detection only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6B72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T5 paraphraser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Zhang et al. (2025)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973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Detection only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6B72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Adversarial T5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THIS STUDY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FIRST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YES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FIRST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LLM Llama 3.3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5" name="Group 15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Construction — 3,600 Samples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300 samples × 4 models × 3 edit conditions  |  4 domains balanced throughout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3" y="2456183"/>
            <a:ext cx="5511803" cy="1342139"/>
            <a:chOff x="0" y="0"/>
            <a:chExt cx="7349071" cy="178951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7315200" cy="1755648"/>
            </a:xfrm>
            <a:custGeom>
              <a:avLst/>
              <a:gdLst/>
              <a:ahLst/>
              <a:cxnLst/>
              <a:rect l="l" t="t" r="r" b="b"/>
              <a:pathLst>
                <a:path w="7315200" h="1755648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7348982" cy="1789430"/>
            </a:xfrm>
            <a:custGeom>
              <a:avLst/>
              <a:gdLst/>
              <a:ahLst/>
              <a:cxnLst/>
              <a:rect l="l" t="t" r="r" b="b"/>
              <a:pathLst>
                <a:path w="7348982" h="1789430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772539"/>
                  </a:lnTo>
                  <a:cubicBezTo>
                    <a:pt x="7348982" y="1781937"/>
                    <a:pt x="7341362" y="1789430"/>
                    <a:pt x="73320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332091" y="1755648"/>
                  </a:lnTo>
                  <a:lnTo>
                    <a:pt x="7332091" y="1772539"/>
                  </a:lnTo>
                  <a:lnTo>
                    <a:pt x="7315200" y="17725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8640" y="2468880"/>
            <a:ext cx="5486400" cy="1316736"/>
            <a:chOff x="0" y="0"/>
            <a:chExt cx="7315200" cy="17556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315200" cy="1755648"/>
            </a:xfrm>
            <a:custGeom>
              <a:avLst/>
              <a:gdLst/>
              <a:ahLst/>
              <a:cxnLst/>
              <a:rect l="l" t="t" r="r" b="b"/>
              <a:pathLst>
                <a:path w="7315200" h="1755648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87" b="-3118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31520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Cond. 1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0% — Original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5943" y="3772919"/>
            <a:ext cx="5511803" cy="4780283"/>
            <a:chOff x="0" y="0"/>
            <a:chExt cx="7349071" cy="6373711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7315200" cy="6339840"/>
            </a:xfrm>
            <a:custGeom>
              <a:avLst/>
              <a:gdLst/>
              <a:ahLst/>
              <a:cxnLst/>
              <a:rect l="l" t="t" r="r" b="b"/>
              <a:pathLst>
                <a:path w="7315200" h="6339840">
                  <a:moveTo>
                    <a:pt x="0" y="0"/>
                  </a:moveTo>
                  <a:lnTo>
                    <a:pt x="7315200" y="0"/>
                  </a:lnTo>
                  <a:lnTo>
                    <a:pt x="731520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7348982" cy="6373622"/>
            </a:xfrm>
            <a:custGeom>
              <a:avLst/>
              <a:gdLst/>
              <a:ahLst/>
              <a:cxnLst/>
              <a:rect l="l" t="t" r="r" b="b"/>
              <a:pathLst>
                <a:path w="7348982" h="637362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6356731"/>
                  </a:lnTo>
                  <a:cubicBezTo>
                    <a:pt x="7348982" y="6366129"/>
                    <a:pt x="7341362" y="6373622"/>
                    <a:pt x="733209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7332091" y="6339840"/>
                  </a:lnTo>
                  <a:lnTo>
                    <a:pt x="7332091" y="6356731"/>
                  </a:lnTo>
                  <a:lnTo>
                    <a:pt x="7315200" y="6356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41783" y="3919223"/>
            <a:ext cx="3500123" cy="610619"/>
            <a:chOff x="0" y="0"/>
            <a:chExt cx="4666831" cy="814159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4632960" cy="780288"/>
            </a:xfrm>
            <a:custGeom>
              <a:avLst/>
              <a:gdLst/>
              <a:ahLst/>
              <a:cxnLst/>
              <a:rect l="l" t="t" r="r" b="b"/>
              <a:pathLst>
                <a:path w="4632960" h="780288">
                  <a:moveTo>
                    <a:pt x="0" y="0"/>
                  </a:moveTo>
                  <a:lnTo>
                    <a:pt x="4632960" y="0"/>
                  </a:lnTo>
                  <a:lnTo>
                    <a:pt x="46329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4666742" cy="814072"/>
            </a:xfrm>
            <a:custGeom>
              <a:avLst/>
              <a:gdLst/>
              <a:ahLst/>
              <a:cxnLst/>
              <a:rect l="l" t="t" r="r" b="b"/>
              <a:pathLst>
                <a:path w="4666742" h="81407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797179"/>
                  </a:lnTo>
                  <a:cubicBezTo>
                    <a:pt x="4666742" y="806577"/>
                    <a:pt x="4659122" y="814070"/>
                    <a:pt x="46498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4649851" y="780288"/>
                  </a:lnTo>
                  <a:lnTo>
                    <a:pt x="4649851" y="797179"/>
                  </a:lnTo>
                  <a:lnTo>
                    <a:pt x="4632960" y="797179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54480" y="3931920"/>
            <a:ext cx="3474720" cy="585216"/>
            <a:chOff x="0" y="0"/>
            <a:chExt cx="4632960" cy="7802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32960" cy="780288"/>
            </a:xfrm>
            <a:custGeom>
              <a:avLst/>
              <a:gdLst/>
              <a:ahLst/>
              <a:cxnLst/>
              <a:rect l="l" t="t" r="r" b="b"/>
              <a:pathLst>
                <a:path w="4632960" h="780288">
                  <a:moveTo>
                    <a:pt x="0" y="0"/>
                  </a:moveTo>
                  <a:lnTo>
                    <a:pt x="4632960" y="0"/>
                  </a:lnTo>
                  <a:lnTo>
                    <a:pt x="4632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2" b="-6569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6329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set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22960" y="4661535"/>
            <a:ext cx="4937760" cy="361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300/model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RAID benchmark: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ChatGPT, Claude, Gemini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xAI API ~$0.15 (Grok)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No rewriting applied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351527" y="2456183"/>
            <a:ext cx="5511803" cy="1342139"/>
            <a:chOff x="0" y="0"/>
            <a:chExt cx="7349071" cy="1789519"/>
          </a:xfrm>
        </p:grpSpPr>
        <p:sp>
          <p:nvSpPr>
            <p:cNvPr id="31" name="Freeform 31"/>
            <p:cNvSpPr/>
            <p:nvPr/>
          </p:nvSpPr>
          <p:spPr>
            <a:xfrm>
              <a:off x="16891" y="16891"/>
              <a:ext cx="7315200" cy="1755648"/>
            </a:xfrm>
            <a:custGeom>
              <a:avLst/>
              <a:gdLst/>
              <a:ahLst/>
              <a:cxnLst/>
              <a:rect l="l" t="t" r="r" b="b"/>
              <a:pathLst>
                <a:path w="7315200" h="1755648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7348982" cy="1789430"/>
            </a:xfrm>
            <a:custGeom>
              <a:avLst/>
              <a:gdLst/>
              <a:ahLst/>
              <a:cxnLst/>
              <a:rect l="l" t="t" r="r" b="b"/>
              <a:pathLst>
                <a:path w="7348982" h="1789430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772539"/>
                  </a:lnTo>
                  <a:cubicBezTo>
                    <a:pt x="7348982" y="1781937"/>
                    <a:pt x="7341362" y="1789430"/>
                    <a:pt x="73320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332091" y="1755648"/>
                  </a:lnTo>
                  <a:lnTo>
                    <a:pt x="7332091" y="1772539"/>
                  </a:lnTo>
                  <a:lnTo>
                    <a:pt x="7315200" y="17725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64224" y="2468880"/>
            <a:ext cx="5486400" cy="1316736"/>
            <a:chOff x="0" y="0"/>
            <a:chExt cx="7315200" cy="175564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315200" cy="1755648"/>
            </a:xfrm>
            <a:custGeom>
              <a:avLst/>
              <a:gdLst/>
              <a:ahLst/>
              <a:cxnLst/>
              <a:rect l="l" t="t" r="r" b="b"/>
              <a:pathLst>
                <a:path w="7315200" h="1755648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87" b="-3118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731520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Cond. 2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~40% Light Rewrite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351527" y="3772919"/>
            <a:ext cx="5511803" cy="4780283"/>
            <a:chOff x="0" y="0"/>
            <a:chExt cx="7349071" cy="6373711"/>
          </a:xfrm>
        </p:grpSpPr>
        <p:sp>
          <p:nvSpPr>
            <p:cNvPr id="37" name="Freeform 37"/>
            <p:cNvSpPr/>
            <p:nvPr/>
          </p:nvSpPr>
          <p:spPr>
            <a:xfrm>
              <a:off x="16891" y="16891"/>
              <a:ext cx="7315200" cy="6339840"/>
            </a:xfrm>
            <a:custGeom>
              <a:avLst/>
              <a:gdLst/>
              <a:ahLst/>
              <a:cxnLst/>
              <a:rect l="l" t="t" r="r" b="b"/>
              <a:pathLst>
                <a:path w="7315200" h="6339840">
                  <a:moveTo>
                    <a:pt x="0" y="0"/>
                  </a:moveTo>
                  <a:lnTo>
                    <a:pt x="7315200" y="0"/>
                  </a:lnTo>
                  <a:lnTo>
                    <a:pt x="731520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7348982" cy="6373622"/>
            </a:xfrm>
            <a:custGeom>
              <a:avLst/>
              <a:gdLst/>
              <a:ahLst/>
              <a:cxnLst/>
              <a:rect l="l" t="t" r="r" b="b"/>
              <a:pathLst>
                <a:path w="7348982" h="637362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6356731"/>
                  </a:lnTo>
                  <a:cubicBezTo>
                    <a:pt x="7348982" y="6366129"/>
                    <a:pt x="7341362" y="6373622"/>
                    <a:pt x="733209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7332091" y="6339840"/>
                  </a:lnTo>
                  <a:lnTo>
                    <a:pt x="7332091" y="6356731"/>
                  </a:lnTo>
                  <a:lnTo>
                    <a:pt x="7315200" y="6356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357367" y="3919223"/>
            <a:ext cx="3500123" cy="610619"/>
            <a:chOff x="0" y="0"/>
            <a:chExt cx="4666831" cy="814159"/>
          </a:xfrm>
        </p:grpSpPr>
        <p:sp>
          <p:nvSpPr>
            <p:cNvPr id="40" name="Freeform 40"/>
            <p:cNvSpPr/>
            <p:nvPr/>
          </p:nvSpPr>
          <p:spPr>
            <a:xfrm>
              <a:off x="16891" y="16891"/>
              <a:ext cx="4632960" cy="780288"/>
            </a:xfrm>
            <a:custGeom>
              <a:avLst/>
              <a:gdLst/>
              <a:ahLst/>
              <a:cxnLst/>
              <a:rect l="l" t="t" r="r" b="b"/>
              <a:pathLst>
                <a:path w="4632960" h="780288">
                  <a:moveTo>
                    <a:pt x="0" y="0"/>
                  </a:moveTo>
                  <a:lnTo>
                    <a:pt x="4632960" y="0"/>
                  </a:lnTo>
                  <a:lnTo>
                    <a:pt x="46329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0"/>
              <a:ext cx="4666742" cy="814072"/>
            </a:xfrm>
            <a:custGeom>
              <a:avLst/>
              <a:gdLst/>
              <a:ahLst/>
              <a:cxnLst/>
              <a:rect l="l" t="t" r="r" b="b"/>
              <a:pathLst>
                <a:path w="4666742" h="81407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797179"/>
                  </a:lnTo>
                  <a:cubicBezTo>
                    <a:pt x="4666742" y="806577"/>
                    <a:pt x="4659122" y="814070"/>
                    <a:pt x="46498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4649851" y="780288"/>
                  </a:lnTo>
                  <a:lnTo>
                    <a:pt x="4649851" y="797179"/>
                  </a:lnTo>
                  <a:lnTo>
                    <a:pt x="4632960" y="797179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370064" y="3931920"/>
            <a:ext cx="3474720" cy="585216"/>
            <a:chOff x="0" y="0"/>
            <a:chExt cx="4632960" cy="78028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632960" cy="780288"/>
            </a:xfrm>
            <a:custGeom>
              <a:avLst/>
              <a:gdLst/>
              <a:ahLst/>
              <a:cxnLst/>
              <a:rect l="l" t="t" r="r" b="b"/>
              <a:pathLst>
                <a:path w="4632960" h="780288">
                  <a:moveTo>
                    <a:pt x="0" y="0"/>
                  </a:moveTo>
                  <a:lnTo>
                    <a:pt x="4632960" y="0"/>
                  </a:lnTo>
                  <a:lnTo>
                    <a:pt x="4632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2" b="-6569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46329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OOD test set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638544" y="4661535"/>
            <a:ext cx="4937760" cy="361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Llama 3.3 70B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via Groq free API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Levenshtein: 30–50%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Cosine sim ≥ 0.80*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Dual-metric gate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2167111" y="2456183"/>
            <a:ext cx="5511803" cy="1342139"/>
            <a:chOff x="0" y="0"/>
            <a:chExt cx="7349071" cy="1789519"/>
          </a:xfrm>
        </p:grpSpPr>
        <p:sp>
          <p:nvSpPr>
            <p:cNvPr id="47" name="Freeform 47"/>
            <p:cNvSpPr/>
            <p:nvPr/>
          </p:nvSpPr>
          <p:spPr>
            <a:xfrm>
              <a:off x="16891" y="16891"/>
              <a:ext cx="7315200" cy="1755648"/>
            </a:xfrm>
            <a:custGeom>
              <a:avLst/>
              <a:gdLst/>
              <a:ahLst/>
              <a:cxnLst/>
              <a:rect l="l" t="t" r="r" b="b"/>
              <a:pathLst>
                <a:path w="7315200" h="1755648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0"/>
              <a:ext cx="7348982" cy="1789430"/>
            </a:xfrm>
            <a:custGeom>
              <a:avLst/>
              <a:gdLst/>
              <a:ahLst/>
              <a:cxnLst/>
              <a:rect l="l" t="t" r="r" b="b"/>
              <a:pathLst>
                <a:path w="7348982" h="1789430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772539"/>
                  </a:lnTo>
                  <a:cubicBezTo>
                    <a:pt x="7348982" y="1781937"/>
                    <a:pt x="7341362" y="1789430"/>
                    <a:pt x="73320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332091" y="1755648"/>
                  </a:lnTo>
                  <a:lnTo>
                    <a:pt x="7332091" y="1772539"/>
                  </a:lnTo>
                  <a:lnTo>
                    <a:pt x="7315200" y="17725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179808" y="2468880"/>
            <a:ext cx="5486400" cy="1316736"/>
            <a:chOff x="0" y="0"/>
            <a:chExt cx="7315200" cy="175564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315200" cy="1755648"/>
            </a:xfrm>
            <a:custGeom>
              <a:avLst/>
              <a:gdLst/>
              <a:ahLst/>
              <a:cxnLst/>
              <a:rect l="l" t="t" r="r" b="b"/>
              <a:pathLst>
                <a:path w="7315200" h="1755648">
                  <a:moveTo>
                    <a:pt x="0" y="0"/>
                  </a:moveTo>
                  <a:lnTo>
                    <a:pt x="7315200" y="0"/>
                  </a:lnTo>
                  <a:lnTo>
                    <a:pt x="73152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87" b="-3118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315200" cy="17937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Cond. 3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~65% Heavy Rewrite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167111" y="3772919"/>
            <a:ext cx="5511803" cy="4780283"/>
            <a:chOff x="0" y="0"/>
            <a:chExt cx="7349071" cy="6373711"/>
          </a:xfrm>
        </p:grpSpPr>
        <p:sp>
          <p:nvSpPr>
            <p:cNvPr id="53" name="Freeform 53"/>
            <p:cNvSpPr/>
            <p:nvPr/>
          </p:nvSpPr>
          <p:spPr>
            <a:xfrm>
              <a:off x="16891" y="16891"/>
              <a:ext cx="7315200" cy="6339840"/>
            </a:xfrm>
            <a:custGeom>
              <a:avLst/>
              <a:gdLst/>
              <a:ahLst/>
              <a:cxnLst/>
              <a:rect l="l" t="t" r="r" b="b"/>
              <a:pathLst>
                <a:path w="7315200" h="6339840">
                  <a:moveTo>
                    <a:pt x="0" y="0"/>
                  </a:moveTo>
                  <a:lnTo>
                    <a:pt x="7315200" y="0"/>
                  </a:lnTo>
                  <a:lnTo>
                    <a:pt x="731520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0"/>
              <a:ext cx="7348982" cy="6373622"/>
            </a:xfrm>
            <a:custGeom>
              <a:avLst/>
              <a:gdLst/>
              <a:ahLst/>
              <a:cxnLst/>
              <a:rect l="l" t="t" r="r" b="b"/>
              <a:pathLst>
                <a:path w="7348982" h="637362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6356731"/>
                  </a:lnTo>
                  <a:cubicBezTo>
                    <a:pt x="7348982" y="6366129"/>
                    <a:pt x="7341362" y="6373622"/>
                    <a:pt x="733209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7332091" y="6339840"/>
                  </a:lnTo>
                  <a:lnTo>
                    <a:pt x="7332091" y="6356731"/>
                  </a:lnTo>
                  <a:lnTo>
                    <a:pt x="7315200" y="6356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172951" y="3919223"/>
            <a:ext cx="3500123" cy="610619"/>
            <a:chOff x="0" y="0"/>
            <a:chExt cx="4666831" cy="814159"/>
          </a:xfrm>
        </p:grpSpPr>
        <p:sp>
          <p:nvSpPr>
            <p:cNvPr id="56" name="Freeform 56"/>
            <p:cNvSpPr/>
            <p:nvPr/>
          </p:nvSpPr>
          <p:spPr>
            <a:xfrm>
              <a:off x="16891" y="16891"/>
              <a:ext cx="4632960" cy="780288"/>
            </a:xfrm>
            <a:custGeom>
              <a:avLst/>
              <a:gdLst/>
              <a:ahLst/>
              <a:cxnLst/>
              <a:rect l="l" t="t" r="r" b="b"/>
              <a:pathLst>
                <a:path w="4632960" h="780288">
                  <a:moveTo>
                    <a:pt x="0" y="0"/>
                  </a:moveTo>
                  <a:lnTo>
                    <a:pt x="4632960" y="0"/>
                  </a:lnTo>
                  <a:lnTo>
                    <a:pt x="46329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0" y="0"/>
              <a:ext cx="4666742" cy="814072"/>
            </a:xfrm>
            <a:custGeom>
              <a:avLst/>
              <a:gdLst/>
              <a:ahLst/>
              <a:cxnLst/>
              <a:rect l="l" t="t" r="r" b="b"/>
              <a:pathLst>
                <a:path w="4666742" h="81407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797179"/>
                  </a:lnTo>
                  <a:cubicBezTo>
                    <a:pt x="4666742" y="806577"/>
                    <a:pt x="4659122" y="814070"/>
                    <a:pt x="464985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4649851" y="780288"/>
                  </a:lnTo>
                  <a:lnTo>
                    <a:pt x="4649851" y="797179"/>
                  </a:lnTo>
                  <a:lnTo>
                    <a:pt x="4632960" y="797179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185648" y="3931920"/>
            <a:ext cx="3474720" cy="585216"/>
            <a:chOff x="0" y="0"/>
            <a:chExt cx="4632960" cy="78028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632960" cy="780288"/>
            </a:xfrm>
            <a:custGeom>
              <a:avLst/>
              <a:gdLst/>
              <a:ahLst/>
              <a:cxnLst/>
              <a:rect l="l" t="t" r="r" b="b"/>
              <a:pathLst>
                <a:path w="4632960" h="780288">
                  <a:moveTo>
                    <a:pt x="0" y="0"/>
                  </a:moveTo>
                  <a:lnTo>
                    <a:pt x="4632960" y="0"/>
                  </a:lnTo>
                  <a:lnTo>
                    <a:pt x="4632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2" b="-6569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46329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OOD test set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2454128" y="4661535"/>
            <a:ext cx="4937760" cy="361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Llama 3.3 70B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via Groq free API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Levenshtein: 55–70%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Cosine sim ≥ 0.597*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Dual-metric gate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548640" y="8953500"/>
            <a:ext cx="17190721" cy="897255"/>
            <a:chOff x="0" y="-342900"/>
            <a:chExt cx="22920961" cy="11963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2920961" cy="853440"/>
            </a:xfrm>
            <a:custGeom>
              <a:avLst/>
              <a:gdLst/>
              <a:ahLst/>
              <a:cxnLst/>
              <a:rect l="l" t="t" r="r" b="b"/>
              <a:pathLst>
                <a:path w="22920961" h="853440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3312" b="-47331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42900"/>
              <a:ext cx="2292096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 dirty="0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* Pilot thresholds empirically derived 23 Feb 2026 using Llama-generated source texts. Calibration refinement with actual target model outputs planned Month 1 before production rewriting.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5" grpId="0"/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 1 Pilot Study — COMPLETED 23 Feb 2026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Empirically deriving quality gate thresholds — not arbitrary numbers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3" y="2602487"/>
            <a:ext cx="793499" cy="793499"/>
            <a:chOff x="0" y="0"/>
            <a:chExt cx="1057999" cy="105799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8640" y="2615184"/>
            <a:ext cx="768096" cy="768096"/>
            <a:chOff x="0" y="0"/>
            <a:chExt cx="1024128" cy="10241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99616" y="2560320"/>
            <a:ext cx="6949440" cy="512064"/>
            <a:chOff x="0" y="0"/>
            <a:chExt cx="926592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65920" cy="682752"/>
            </a:xfrm>
            <a:custGeom>
              <a:avLst/>
              <a:gdLst/>
              <a:ahLst/>
              <a:cxnLst/>
              <a:rect l="l" t="t" r="r" b="b"/>
              <a:pathLst>
                <a:path w="9265920" h="682752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439" b="-21443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26592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 30 Source Texts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99616" y="3072384"/>
            <a:ext cx="6949440" cy="914400"/>
            <a:chOff x="0" y="0"/>
            <a:chExt cx="926592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65920" cy="1219200"/>
            </a:xfrm>
            <a:custGeom>
              <a:avLst/>
              <a:gdLst/>
              <a:ahLst/>
              <a:cxnLst/>
              <a:rect l="l" t="t" r="r" b="b"/>
              <a:pathLst>
                <a:path w="9265920" h="121920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086" b="-9808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academic + 10 news + 10 creative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Rewritten by Llama 3.3 70B on Groq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5943" y="4339847"/>
            <a:ext cx="793499" cy="793499"/>
            <a:chOff x="0" y="0"/>
            <a:chExt cx="1057999" cy="105799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48640" y="4352544"/>
            <a:ext cx="768096" cy="768096"/>
            <a:chOff x="0" y="0"/>
            <a:chExt cx="1024128" cy="10241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99616" y="4297680"/>
            <a:ext cx="6949440" cy="512064"/>
            <a:chOff x="0" y="0"/>
            <a:chExt cx="9265920" cy="6827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265920" cy="682752"/>
            </a:xfrm>
            <a:custGeom>
              <a:avLst/>
              <a:gdLst/>
              <a:ahLst/>
              <a:cxnLst/>
              <a:rect l="l" t="t" r="r" b="b"/>
              <a:pathLst>
                <a:path w="9265920" h="682752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439" b="-21443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926592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Rewrite Each Twice (60 samples)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99616" y="4809744"/>
            <a:ext cx="6949440" cy="914400"/>
            <a:chOff x="0" y="0"/>
            <a:chExt cx="9265920" cy="1219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265920" cy="1219200"/>
            </a:xfrm>
            <a:custGeom>
              <a:avLst/>
              <a:gdLst/>
              <a:ahLst/>
              <a:cxnLst/>
              <a:rect l="l" t="t" r="r" b="b"/>
              <a:pathLst>
                <a:path w="9265920" h="121920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086" b="-9808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Light instruction + Heavy instruction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produced 60 rewritten samples total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5943" y="6077207"/>
            <a:ext cx="793499" cy="793499"/>
            <a:chOff x="0" y="0"/>
            <a:chExt cx="1057999" cy="1057999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48640" y="6089904"/>
            <a:ext cx="768096" cy="768096"/>
            <a:chOff x="0" y="0"/>
            <a:chExt cx="1024128" cy="10241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99616" y="6035040"/>
            <a:ext cx="6949440" cy="512064"/>
            <a:chOff x="0" y="0"/>
            <a:chExt cx="9265920" cy="68275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265920" cy="682752"/>
            </a:xfrm>
            <a:custGeom>
              <a:avLst/>
              <a:gdLst/>
              <a:ahLst/>
              <a:cxnLst/>
              <a:rect l="l" t="t" r="r" b="b"/>
              <a:pathLst>
                <a:path w="9265920" h="682752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439" b="-21443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926592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Compute Both Metrics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99616" y="6547104"/>
            <a:ext cx="6949440" cy="914400"/>
            <a:chOff x="0" y="0"/>
            <a:chExt cx="926592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265920" cy="1219200"/>
            </a:xfrm>
            <a:custGeom>
              <a:avLst/>
              <a:gdLst/>
              <a:ahLst/>
              <a:cxnLst/>
              <a:rect l="l" t="t" r="r" b="b"/>
              <a:pathLst>
                <a:path w="9265920" h="121920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086" b="-9808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Word-level Levenshtein (python-Levenshtein)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Cosine similarity (all-MiniLM-L6-v2)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5943" y="7814567"/>
            <a:ext cx="793499" cy="793499"/>
            <a:chOff x="0" y="0"/>
            <a:chExt cx="1057999" cy="1057999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1057910" cy="1057910"/>
            </a:xfrm>
            <a:custGeom>
              <a:avLst/>
              <a:gdLst/>
              <a:ahLst/>
              <a:cxnLst/>
              <a:rect l="l" t="t" r="r" b="b"/>
              <a:pathLst>
                <a:path w="1057910" h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48640" y="7827264"/>
            <a:ext cx="768096" cy="768096"/>
            <a:chOff x="0" y="0"/>
            <a:chExt cx="1024128" cy="102412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99616" y="7772400"/>
            <a:ext cx="6949440" cy="512064"/>
            <a:chOff x="0" y="0"/>
            <a:chExt cx="9265920" cy="68275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265920" cy="682752"/>
            </a:xfrm>
            <a:custGeom>
              <a:avLst/>
              <a:gdLst/>
              <a:ahLst/>
              <a:cxnLst/>
              <a:rect l="l" t="t" r="r" b="b"/>
              <a:pathLst>
                <a:path w="9265920" h="682752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439" b="-21443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926592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Human Coherence Rating (Blind)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499616" y="8284464"/>
            <a:ext cx="6949440" cy="914400"/>
            <a:chOff x="0" y="0"/>
            <a:chExt cx="9265920" cy="1219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265920" cy="1219200"/>
            </a:xfrm>
            <a:custGeom>
              <a:avLst/>
              <a:gdLst/>
              <a:ahLst/>
              <a:cxnLst/>
              <a:rect l="l" t="t" r="r" b="b"/>
              <a:pathLst>
                <a:path w="9265920" h="121920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086" b="-9808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Rated 1–3 per sample before seeing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metric scores (prevents anchoring bias)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35943" y="9314183"/>
            <a:ext cx="8437883" cy="610619"/>
            <a:chOff x="0" y="0"/>
            <a:chExt cx="11250511" cy="814159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11216640" cy="780288"/>
            </a:xfrm>
            <a:custGeom>
              <a:avLst/>
              <a:gdLst/>
              <a:ahLst/>
              <a:cxnLst/>
              <a:rect l="l" t="t" r="r" b="b"/>
              <a:pathLst>
                <a:path w="11216640" h="780288">
                  <a:moveTo>
                    <a:pt x="0" y="0"/>
                  </a:moveTo>
                  <a:lnTo>
                    <a:pt x="11216640" y="0"/>
                  </a:lnTo>
                  <a:lnTo>
                    <a:pt x="112166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A8DADC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0" y="0"/>
              <a:ext cx="11250422" cy="814072"/>
            </a:xfrm>
            <a:custGeom>
              <a:avLst/>
              <a:gdLst/>
              <a:ahLst/>
              <a:cxnLst/>
              <a:rect l="l" t="t" r="r" b="b"/>
              <a:pathLst>
                <a:path w="11250422" h="81407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797179"/>
                  </a:lnTo>
                  <a:cubicBezTo>
                    <a:pt x="11250422" y="806577"/>
                    <a:pt x="11242802" y="814070"/>
                    <a:pt x="1123353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233531" y="780288"/>
                  </a:lnTo>
                  <a:lnTo>
                    <a:pt x="11233531" y="797179"/>
                  </a:lnTo>
                  <a:lnTo>
                    <a:pt x="11216640" y="79717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40080" y="9381744"/>
            <a:ext cx="8229600" cy="457200"/>
            <a:chOff x="0" y="0"/>
            <a:chExt cx="10972800" cy="6096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972800" cy="609600"/>
            </a:xfrm>
            <a:custGeom>
              <a:avLst/>
              <a:gdLst/>
              <a:ahLst/>
              <a:cxnLst/>
              <a:rect l="l" t="t" r="r" b="b"/>
              <a:pathLst>
                <a:path w="10972800" h="6096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109728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Result: Light ≥ 0.80  |  Heavy ≥ 0.597  |  0 incoherent samples in 60 rewrites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50034" y="2712977"/>
            <a:ext cx="11363646" cy="6028687"/>
            <a:chOff x="0" y="0"/>
            <a:chExt cx="15151528" cy="8038249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5151528" cy="8038249"/>
            </a:xfrm>
            <a:custGeom>
              <a:avLst/>
              <a:gdLst/>
              <a:ahLst/>
              <a:cxnLst/>
              <a:rect l="l" t="t" r="r" b="b"/>
              <a:pathLst>
                <a:path w="15151528" h="8038249">
                  <a:moveTo>
                    <a:pt x="0" y="0"/>
                  </a:moveTo>
                  <a:lnTo>
                    <a:pt x="15151528" y="0"/>
                  </a:lnTo>
                  <a:lnTo>
                    <a:pt x="15151528" y="8038249"/>
                  </a:lnTo>
                  <a:lnTo>
                    <a:pt x="0" y="8038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53" b="-153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326880" y="9272016"/>
            <a:ext cx="8686800" cy="768096"/>
            <a:chOff x="0" y="0"/>
            <a:chExt cx="11582400" cy="102412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582400" cy="1024128"/>
            </a:xfrm>
            <a:custGeom>
              <a:avLst/>
              <a:gdLst/>
              <a:ahLst/>
              <a:cxnLst/>
              <a:rect l="l" t="t" r="r" b="b"/>
              <a:pathLst>
                <a:path w="11582400" h="1024128">
                  <a:moveTo>
                    <a:pt x="0" y="0"/>
                  </a:moveTo>
                  <a:lnTo>
                    <a:pt x="11582400" y="0"/>
                  </a:lnTo>
                  <a:lnTo>
                    <a:pt x="1158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6" b="-17036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1158240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039"/>
                </a:lnSpc>
              </a:pPr>
              <a:r>
                <a:rPr lang="en-US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Next step — Month 1: Calibration refinement with actual ChatGPT, Claude, Gemini, and Grok outputs rewritten by Llama 3.3 70B to confirm thresholds on the production data distribution</a:t>
              </a:r>
              <a:endParaRPr lang="en-US" sz="1700" i="1" dirty="0">
                <a:solidFill>
                  <a:srgbClr val="F9731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48640" y="9798939"/>
            <a:ext cx="17190720" cy="548640"/>
            <a:chOff x="0" y="0"/>
            <a:chExt cx="22920960" cy="73152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219456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Pipeline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 through 8 stages — icons identify each process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2011680"/>
            <a:ext cx="1828800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 sz="3600"/>
          </a:p>
        </p:txBody>
      </p:sp>
      <p:sp>
        <p:nvSpPr>
          <p:cNvPr id="6" name="Shape 4"/>
          <p:cNvSpPr/>
          <p:nvPr/>
        </p:nvSpPr>
        <p:spPr>
          <a:xfrm>
            <a:off x="457200" y="2340864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3600"/>
          </a:p>
        </p:txBody>
      </p:sp>
      <p:sp>
        <p:nvSpPr>
          <p:cNvPr id="7" name="Shape 5"/>
          <p:cNvSpPr/>
          <p:nvPr/>
        </p:nvSpPr>
        <p:spPr>
          <a:xfrm>
            <a:off x="457200" y="2340864"/>
            <a:ext cx="4023360" cy="7680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sz="3600"/>
          </a:p>
        </p:txBody>
      </p:sp>
      <p:sp>
        <p:nvSpPr>
          <p:cNvPr id="8" name="Text 6"/>
          <p:cNvSpPr/>
          <p:nvPr/>
        </p:nvSpPr>
        <p:spPr>
          <a:xfrm>
            <a:off x="603504" y="2432304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52144" y="24505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321868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0080" y="4315968"/>
            <a:ext cx="36576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benchmark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(ChatGPT, Claude, Gemini)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API — Grok (~$0.15)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3803904"/>
            <a:ext cx="329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809744" y="2340864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3600"/>
          </a:p>
        </p:txBody>
      </p:sp>
      <p:sp>
        <p:nvSpPr>
          <p:cNvPr id="14" name="Shape 12"/>
          <p:cNvSpPr/>
          <p:nvPr/>
        </p:nvSpPr>
        <p:spPr>
          <a:xfrm>
            <a:off x="4809744" y="2340864"/>
            <a:ext cx="4023360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 sz="3600"/>
          </a:p>
        </p:txBody>
      </p:sp>
      <p:sp>
        <p:nvSpPr>
          <p:cNvPr id="15" name="Text 13"/>
          <p:cNvSpPr/>
          <p:nvPr/>
        </p:nvSpPr>
        <p:spPr>
          <a:xfrm>
            <a:off x="4956048" y="2432304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04688" y="24505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Rewriting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81344" y="321868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992624" y="4315968"/>
            <a:ext cx="36576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Groq free API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 samples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33104" y="3803904"/>
            <a:ext cx="329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9162288" y="2340864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3600"/>
          </a:p>
        </p:txBody>
      </p:sp>
      <p:sp>
        <p:nvSpPr>
          <p:cNvPr id="21" name="Shape 19"/>
          <p:cNvSpPr/>
          <p:nvPr/>
        </p:nvSpPr>
        <p:spPr>
          <a:xfrm>
            <a:off x="9162288" y="2340864"/>
            <a:ext cx="4023360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 sz="3600"/>
          </a:p>
        </p:txBody>
      </p:sp>
      <p:sp>
        <p:nvSpPr>
          <p:cNvPr id="22" name="Text 20"/>
          <p:cNvSpPr/>
          <p:nvPr/>
        </p:nvSpPr>
        <p:spPr>
          <a:xfrm>
            <a:off x="9308592" y="2432304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57232" y="24505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33888" y="321868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🔽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9345168" y="4315968"/>
            <a:ext cx="36576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(word-level)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Cosine similarity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Dual-metric filter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185648" y="3803904"/>
            <a:ext cx="329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13514832" y="2340864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3600"/>
          </a:p>
        </p:txBody>
      </p:sp>
      <p:sp>
        <p:nvSpPr>
          <p:cNvPr id="28" name="Shape 26"/>
          <p:cNvSpPr/>
          <p:nvPr/>
        </p:nvSpPr>
        <p:spPr>
          <a:xfrm>
            <a:off x="13514832" y="2340864"/>
            <a:ext cx="4023360" cy="7680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sz="3600"/>
          </a:p>
        </p:txBody>
      </p:sp>
      <p:sp>
        <p:nvSpPr>
          <p:cNvPr id="29" name="Text 27"/>
          <p:cNvSpPr/>
          <p:nvPr/>
        </p:nvSpPr>
        <p:spPr>
          <a:xfrm>
            <a:off x="13661136" y="2432304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209776" y="24505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4886432" y="321868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📐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13697712" y="4315968"/>
            <a:ext cx="36576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stylometric features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all-MiniLM-L6-v2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 embeddings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7007840" y="557784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13514832" y="6364224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3600"/>
          </a:p>
        </p:txBody>
      </p:sp>
      <p:sp>
        <p:nvSpPr>
          <p:cNvPr id="35" name="Shape 33"/>
          <p:cNvSpPr/>
          <p:nvPr/>
        </p:nvSpPr>
        <p:spPr>
          <a:xfrm>
            <a:off x="13514832" y="6364224"/>
            <a:ext cx="4023360" cy="7680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sz="3600"/>
          </a:p>
        </p:txBody>
      </p:sp>
      <p:sp>
        <p:nvSpPr>
          <p:cNvPr id="36" name="Text 34"/>
          <p:cNvSpPr/>
          <p:nvPr/>
        </p:nvSpPr>
        <p:spPr>
          <a:xfrm>
            <a:off x="13661136" y="6455664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4209776" y="647395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+ SHAP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4886432" y="724204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5600" dirty="0"/>
          </a:p>
        </p:txBody>
      </p:sp>
      <p:sp>
        <p:nvSpPr>
          <p:cNvPr id="39" name="Text 37"/>
          <p:cNvSpPr/>
          <p:nvPr/>
        </p:nvSpPr>
        <p:spPr>
          <a:xfrm>
            <a:off x="13697712" y="833932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rewritten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 SHAP feature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analysis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7538192" y="7790688"/>
            <a:ext cx="329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200" dirty="0"/>
          </a:p>
        </p:txBody>
      </p:sp>
      <p:sp>
        <p:nvSpPr>
          <p:cNvPr id="41" name="Shape 39"/>
          <p:cNvSpPr/>
          <p:nvPr/>
        </p:nvSpPr>
        <p:spPr>
          <a:xfrm>
            <a:off x="9162288" y="6364224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3600"/>
          </a:p>
        </p:txBody>
      </p:sp>
      <p:sp>
        <p:nvSpPr>
          <p:cNvPr id="42" name="Shape 40"/>
          <p:cNvSpPr/>
          <p:nvPr/>
        </p:nvSpPr>
        <p:spPr>
          <a:xfrm>
            <a:off x="9162288" y="6364224"/>
            <a:ext cx="4023360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 sz="3600"/>
          </a:p>
        </p:txBody>
      </p:sp>
      <p:sp>
        <p:nvSpPr>
          <p:cNvPr id="43" name="Text 41"/>
          <p:cNvSpPr/>
          <p:nvPr/>
        </p:nvSpPr>
        <p:spPr>
          <a:xfrm>
            <a:off x="9308592" y="6455664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857232" y="647395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Train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0533888" y="724204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🏋</a:t>
            </a:r>
            <a:endParaRPr lang="en-US" sz="5600" dirty="0"/>
          </a:p>
        </p:txBody>
      </p:sp>
      <p:sp>
        <p:nvSpPr>
          <p:cNvPr id="46" name="Text 44"/>
          <p:cNvSpPr/>
          <p:nvPr/>
        </p:nvSpPr>
        <p:spPr>
          <a:xfrm>
            <a:off x="9345168" y="833932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RF + MLP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Soft-voting ensemble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CV, 0% data only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3185648" y="7790688"/>
            <a:ext cx="329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200" dirty="0"/>
          </a:p>
        </p:txBody>
      </p:sp>
      <p:sp>
        <p:nvSpPr>
          <p:cNvPr id="48" name="Shape 46"/>
          <p:cNvSpPr/>
          <p:nvPr/>
        </p:nvSpPr>
        <p:spPr>
          <a:xfrm>
            <a:off x="4809744" y="6364224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3600"/>
          </a:p>
        </p:txBody>
      </p:sp>
      <p:sp>
        <p:nvSpPr>
          <p:cNvPr id="49" name="Shape 47"/>
          <p:cNvSpPr/>
          <p:nvPr/>
        </p:nvSpPr>
        <p:spPr>
          <a:xfrm>
            <a:off x="4809744" y="6364224"/>
            <a:ext cx="4023360" cy="7680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 sz="3600"/>
          </a:p>
        </p:txBody>
      </p:sp>
      <p:sp>
        <p:nvSpPr>
          <p:cNvPr id="50" name="Text 48"/>
          <p:cNvSpPr/>
          <p:nvPr/>
        </p:nvSpPr>
        <p:spPr>
          <a:xfrm>
            <a:off x="4956048" y="6455664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5504688" y="647395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Combine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181344" y="724204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</a:t>
            </a:r>
            <a:endParaRPr lang="en-US" sz="5600" dirty="0"/>
          </a:p>
        </p:txBody>
      </p:sp>
      <p:sp>
        <p:nvSpPr>
          <p:cNvPr id="53" name="Text 51"/>
          <p:cNvSpPr/>
          <p:nvPr/>
        </p:nvSpPr>
        <p:spPr>
          <a:xfrm>
            <a:off x="4992624" y="833932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StandardScaler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feature group →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~83-d final vector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457200" y="6364224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3600"/>
          </a:p>
        </p:txBody>
      </p:sp>
      <p:sp>
        <p:nvSpPr>
          <p:cNvPr id="56" name="Shape 54"/>
          <p:cNvSpPr/>
          <p:nvPr/>
        </p:nvSpPr>
        <p:spPr>
          <a:xfrm>
            <a:off x="457200" y="6364224"/>
            <a:ext cx="4023360" cy="7680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AE" sz="3600"/>
          </a:p>
        </p:txBody>
      </p:sp>
      <p:sp>
        <p:nvSpPr>
          <p:cNvPr id="57" name="Text 55"/>
          <p:cNvSpPr/>
          <p:nvPr/>
        </p:nvSpPr>
        <p:spPr>
          <a:xfrm>
            <a:off x="603504" y="6455664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1152144" y="647395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Reduction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1828800" y="724204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5600" dirty="0"/>
          </a:p>
        </p:txBody>
      </p:sp>
      <p:sp>
        <p:nvSpPr>
          <p:cNvPr id="60" name="Text 58"/>
          <p:cNvSpPr/>
          <p:nvPr/>
        </p:nvSpPr>
        <p:spPr>
          <a:xfrm>
            <a:off x="640080" y="833932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 → ~75 PCA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(95% var.)</a:t>
            </a:r>
            <a:endParaRPr lang="en-US" sz="2000" dirty="0"/>
          </a:p>
          <a:p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ratio: 11.6:1 ✓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512064" y="6400800"/>
            <a:ext cx="3968496" cy="3566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3600"/>
          </a:p>
        </p:txBody>
      </p:sp>
      <p:sp>
        <p:nvSpPr>
          <p:cNvPr id="62" name="Shape 60"/>
          <p:cNvSpPr/>
          <p:nvPr/>
        </p:nvSpPr>
        <p:spPr>
          <a:xfrm>
            <a:off x="512064" y="6400800"/>
            <a:ext cx="128016" cy="3566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AE" sz="3600"/>
          </a:p>
        </p:txBody>
      </p:sp>
      <p:sp>
        <p:nvSpPr>
          <p:cNvPr id="63" name="Text 61"/>
          <p:cNvSpPr/>
          <p:nvPr/>
        </p:nvSpPr>
        <p:spPr>
          <a:xfrm>
            <a:off x="768096" y="651052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Reduction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768096" y="7132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PCA</a:t>
            </a: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2560320" y="71323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PCA</a:t>
            </a: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768096" y="7498080"/>
            <a:ext cx="16093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2.4:1</a:t>
            </a:r>
            <a:endParaRPr lang="en-US" sz="4400" dirty="0"/>
          </a:p>
        </p:txBody>
      </p:sp>
      <p:sp>
        <p:nvSpPr>
          <p:cNvPr id="67" name="Text 65"/>
          <p:cNvSpPr/>
          <p:nvPr/>
        </p:nvSpPr>
        <p:spPr>
          <a:xfrm>
            <a:off x="2523744" y="7498080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11.6:1</a:t>
            </a:r>
            <a:endParaRPr lang="en-US" sz="4400" dirty="0"/>
          </a:p>
        </p:txBody>
      </p:sp>
      <p:sp>
        <p:nvSpPr>
          <p:cNvPr id="68" name="Text 66"/>
          <p:cNvSpPr/>
          <p:nvPr/>
        </p:nvSpPr>
        <p:spPr>
          <a:xfrm>
            <a:off x="640080" y="8412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samples/feature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2432304" y="8412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samples/feature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2231136" y="7644384"/>
            <a:ext cx="402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1" name="Text 69"/>
          <p:cNvSpPr/>
          <p:nvPr/>
        </p:nvSpPr>
        <p:spPr>
          <a:xfrm>
            <a:off x="640080" y="88148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 eliminated</a:t>
            </a:r>
            <a:endParaRPr lang="en-US" sz="1700" dirty="0"/>
          </a:p>
        </p:txBody>
      </p:sp>
      <p:sp>
        <p:nvSpPr>
          <p:cNvPr id="73" name="Text 71"/>
          <p:cNvSpPr/>
          <p:nvPr/>
        </p:nvSpPr>
        <p:spPr>
          <a:xfrm>
            <a:off x="548640" y="9656064"/>
            <a:ext cx="1719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I.H.P.H. Dulshan  |  Reg No: 29315  |  MIS — Batch 22.2  |  NSBM Green University</a:t>
            </a:r>
            <a:endParaRPr lang="en-US" dirty="0"/>
          </a:p>
        </p:txBody>
      </p:sp>
      <p:grpSp>
        <p:nvGrpSpPr>
          <p:cNvPr id="74" name="Group 83">
            <a:extLst>
              <a:ext uri="{FF2B5EF4-FFF2-40B4-BE49-F238E27FC236}">
                <a16:creationId xmlns:a16="http://schemas.microsoft.com/office/drawing/2014/main" id="{DDC4AF52-36E5-9351-947C-E621C383DE72}"/>
              </a:ext>
            </a:extLst>
          </p:cNvPr>
          <p:cNvGrpSpPr/>
          <p:nvPr/>
        </p:nvGrpSpPr>
        <p:grpSpPr>
          <a:xfrm>
            <a:off x="4572000" y="7900416"/>
            <a:ext cx="310896" cy="822960"/>
            <a:chOff x="0" y="0"/>
            <a:chExt cx="414528" cy="1097280"/>
          </a:xfrm>
        </p:grpSpPr>
        <p:sp>
          <p:nvSpPr>
            <p:cNvPr id="75" name="Freeform 84">
              <a:extLst>
                <a:ext uri="{FF2B5EF4-FFF2-40B4-BE49-F238E27FC236}">
                  <a16:creationId xmlns:a16="http://schemas.microsoft.com/office/drawing/2014/main" id="{88F6125F-8203-7C1F-FBF4-0E51AFCF0C6E}"/>
                </a:ext>
              </a:extLst>
            </p:cNvPr>
            <p:cNvSpPr/>
            <p:nvPr/>
          </p:nvSpPr>
          <p:spPr>
            <a:xfrm>
              <a:off x="0" y="0"/>
              <a:ext cx="414528" cy="1097280"/>
            </a:xfrm>
            <a:custGeom>
              <a:avLst/>
              <a:gdLst/>
              <a:ahLst/>
              <a:cxnLst/>
              <a:rect l="l" t="t" r="r" b="b"/>
              <a:pathLst>
                <a:path w="414528" h="1097280">
                  <a:moveTo>
                    <a:pt x="0" y="0"/>
                  </a:moveTo>
                  <a:lnTo>
                    <a:pt x="414528" y="0"/>
                  </a:lnTo>
                  <a:lnTo>
                    <a:pt x="4145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627" r="-28962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6" name="TextBox 85">
              <a:extLst>
                <a:ext uri="{FF2B5EF4-FFF2-40B4-BE49-F238E27FC236}">
                  <a16:creationId xmlns:a16="http://schemas.microsoft.com/office/drawing/2014/main" id="{DE251DE3-B5C6-8CDD-5945-4B00D338CBCE}"/>
                </a:ext>
              </a:extLst>
            </p:cNvPr>
            <p:cNvSpPr txBox="1"/>
            <p:nvPr/>
          </p:nvSpPr>
          <p:spPr>
            <a:xfrm>
              <a:off x="0" y="-47625"/>
              <a:ext cx="414528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77" name="Group 98">
            <a:extLst>
              <a:ext uri="{FF2B5EF4-FFF2-40B4-BE49-F238E27FC236}">
                <a16:creationId xmlns:a16="http://schemas.microsoft.com/office/drawing/2014/main" id="{6B0FFD77-8971-921D-A9C9-BFA8D26A610E}"/>
              </a:ext>
            </a:extLst>
          </p:cNvPr>
          <p:cNvGrpSpPr/>
          <p:nvPr/>
        </p:nvGrpSpPr>
        <p:grpSpPr>
          <a:xfrm>
            <a:off x="8906256" y="7900416"/>
            <a:ext cx="310896" cy="822960"/>
            <a:chOff x="0" y="0"/>
            <a:chExt cx="414528" cy="1097280"/>
          </a:xfrm>
        </p:grpSpPr>
        <p:sp>
          <p:nvSpPr>
            <p:cNvPr id="78" name="Freeform 99">
              <a:extLst>
                <a:ext uri="{FF2B5EF4-FFF2-40B4-BE49-F238E27FC236}">
                  <a16:creationId xmlns:a16="http://schemas.microsoft.com/office/drawing/2014/main" id="{8758AB54-8AA9-9A46-1FB8-A02888654A32}"/>
                </a:ext>
              </a:extLst>
            </p:cNvPr>
            <p:cNvSpPr/>
            <p:nvPr/>
          </p:nvSpPr>
          <p:spPr>
            <a:xfrm>
              <a:off x="0" y="0"/>
              <a:ext cx="414528" cy="1097280"/>
            </a:xfrm>
            <a:custGeom>
              <a:avLst/>
              <a:gdLst/>
              <a:ahLst/>
              <a:cxnLst/>
              <a:rect l="l" t="t" r="r" b="b"/>
              <a:pathLst>
                <a:path w="414528" h="1097280">
                  <a:moveTo>
                    <a:pt x="0" y="0"/>
                  </a:moveTo>
                  <a:lnTo>
                    <a:pt x="414528" y="0"/>
                  </a:lnTo>
                  <a:lnTo>
                    <a:pt x="4145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627" r="-28962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9" name="TextBox 100">
              <a:extLst>
                <a:ext uri="{FF2B5EF4-FFF2-40B4-BE49-F238E27FC236}">
                  <a16:creationId xmlns:a16="http://schemas.microsoft.com/office/drawing/2014/main" id="{4839B33E-5360-AE3B-EDD4-42780B201B2A}"/>
                </a:ext>
              </a:extLst>
            </p:cNvPr>
            <p:cNvSpPr txBox="1"/>
            <p:nvPr/>
          </p:nvSpPr>
          <p:spPr>
            <a:xfrm>
              <a:off x="0" y="-47625"/>
              <a:ext cx="414528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80" name="Group 113">
            <a:extLst>
              <a:ext uri="{FF2B5EF4-FFF2-40B4-BE49-F238E27FC236}">
                <a16:creationId xmlns:a16="http://schemas.microsoft.com/office/drawing/2014/main" id="{D6C96A05-2ED7-0EA9-99F7-8B9002C5A7D2}"/>
              </a:ext>
            </a:extLst>
          </p:cNvPr>
          <p:cNvGrpSpPr/>
          <p:nvPr/>
        </p:nvGrpSpPr>
        <p:grpSpPr>
          <a:xfrm>
            <a:off x="13240512" y="7978140"/>
            <a:ext cx="310896" cy="822960"/>
            <a:chOff x="0" y="0"/>
            <a:chExt cx="414528" cy="1097280"/>
          </a:xfrm>
        </p:grpSpPr>
        <p:sp>
          <p:nvSpPr>
            <p:cNvPr id="81" name="Freeform 114">
              <a:extLst>
                <a:ext uri="{FF2B5EF4-FFF2-40B4-BE49-F238E27FC236}">
                  <a16:creationId xmlns:a16="http://schemas.microsoft.com/office/drawing/2014/main" id="{2B540F44-5C8C-957F-5BB3-94E76A8AED35}"/>
                </a:ext>
              </a:extLst>
            </p:cNvPr>
            <p:cNvSpPr/>
            <p:nvPr/>
          </p:nvSpPr>
          <p:spPr>
            <a:xfrm>
              <a:off x="0" y="0"/>
              <a:ext cx="414528" cy="1097280"/>
            </a:xfrm>
            <a:custGeom>
              <a:avLst/>
              <a:gdLst/>
              <a:ahLst/>
              <a:cxnLst/>
              <a:rect l="l" t="t" r="r" b="b"/>
              <a:pathLst>
                <a:path w="414528" h="1097280">
                  <a:moveTo>
                    <a:pt x="0" y="0"/>
                  </a:moveTo>
                  <a:lnTo>
                    <a:pt x="414528" y="0"/>
                  </a:lnTo>
                  <a:lnTo>
                    <a:pt x="4145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627" r="-28962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2" name="TextBox 115">
              <a:extLst>
                <a:ext uri="{FF2B5EF4-FFF2-40B4-BE49-F238E27FC236}">
                  <a16:creationId xmlns:a16="http://schemas.microsoft.com/office/drawing/2014/main" id="{8F21D499-FE75-5283-F5DA-635C322548DC}"/>
                </a:ext>
              </a:extLst>
            </p:cNvPr>
            <p:cNvSpPr txBox="1"/>
            <p:nvPr/>
          </p:nvSpPr>
          <p:spPr>
            <a:xfrm>
              <a:off x="0" y="-47625"/>
              <a:ext cx="414528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63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Ablation Study — What Each Comparison Isolates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constant across configs 1–3: any accuracy difference = feature type, not classifier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3" y="2456183"/>
            <a:ext cx="4048763" cy="976379"/>
            <a:chOff x="0" y="0"/>
            <a:chExt cx="5398351" cy="130183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5364480" cy="1267968"/>
            </a:xfrm>
            <a:custGeom>
              <a:avLst/>
              <a:gdLst/>
              <a:ahLst/>
              <a:cxnLst/>
              <a:rect l="l" t="t" r="r" b="b"/>
              <a:pathLst>
                <a:path w="5364480" h="1267968">
                  <a:moveTo>
                    <a:pt x="0" y="0"/>
                  </a:moveTo>
                  <a:lnTo>
                    <a:pt x="5364480" y="0"/>
                  </a:lnTo>
                  <a:lnTo>
                    <a:pt x="536448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5398262" cy="1301750"/>
            </a:xfrm>
            <a:custGeom>
              <a:avLst/>
              <a:gdLst/>
              <a:ahLst/>
              <a:cxnLst/>
              <a:rect l="l" t="t" r="r" b="b"/>
              <a:pathLst>
                <a:path w="5398262" h="1301750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284859"/>
                  </a:lnTo>
                  <a:cubicBezTo>
                    <a:pt x="5398262" y="1294257"/>
                    <a:pt x="5390642" y="1301750"/>
                    <a:pt x="538137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381371" y="1267968"/>
                  </a:lnTo>
                  <a:lnTo>
                    <a:pt x="5381371" y="1284859"/>
                  </a:lnTo>
                  <a:lnTo>
                    <a:pt x="5364480" y="128485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4944" y="2615184"/>
            <a:ext cx="3749040" cy="658368"/>
            <a:chOff x="0" y="0"/>
            <a:chExt cx="4998720" cy="8778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98720" cy="877824"/>
            </a:xfrm>
            <a:custGeom>
              <a:avLst/>
              <a:gdLst/>
              <a:ahLst/>
              <a:cxnLst/>
              <a:rect l="l" t="t" r="r" b="b"/>
              <a:pathLst>
                <a:path w="4998720" h="877824">
                  <a:moveTo>
                    <a:pt x="0" y="0"/>
                  </a:moveTo>
                  <a:lnTo>
                    <a:pt x="4998720" y="0"/>
                  </a:lnTo>
                  <a:lnTo>
                    <a:pt x="4998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956" b="-6095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99872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 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5943" y="3407159"/>
            <a:ext cx="4048763" cy="6426203"/>
            <a:chOff x="0" y="0"/>
            <a:chExt cx="5398351" cy="8568271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5364480" cy="8534400"/>
            </a:xfrm>
            <a:custGeom>
              <a:avLst/>
              <a:gdLst/>
              <a:ahLst/>
              <a:cxnLst/>
              <a:rect l="l" t="t" r="r" b="b"/>
              <a:pathLst>
                <a:path w="5364480" h="8534400">
                  <a:moveTo>
                    <a:pt x="0" y="0"/>
                  </a:moveTo>
                  <a:lnTo>
                    <a:pt x="5364480" y="0"/>
                  </a:lnTo>
                  <a:lnTo>
                    <a:pt x="536448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5398262" cy="8568182"/>
            </a:xfrm>
            <a:custGeom>
              <a:avLst/>
              <a:gdLst/>
              <a:ahLst/>
              <a:cxnLst/>
              <a:rect l="l" t="t" r="r" b="b"/>
              <a:pathLst>
                <a:path w="5398262" h="856818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8551291"/>
                  </a:lnTo>
                  <a:cubicBezTo>
                    <a:pt x="5398262" y="8560689"/>
                    <a:pt x="5390642" y="8568182"/>
                    <a:pt x="538137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381371" y="8534400"/>
                  </a:lnTo>
                  <a:lnTo>
                    <a:pt x="5381371" y="8551291"/>
                  </a:lnTo>
                  <a:lnTo>
                    <a:pt x="5364480" y="8551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1520" y="3602736"/>
            <a:ext cx="3657600" cy="658368"/>
            <a:chOff x="0" y="0"/>
            <a:chExt cx="4876800" cy="87782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76800" cy="877824"/>
            </a:xfrm>
            <a:custGeom>
              <a:avLst/>
              <a:gdLst/>
              <a:ahLst/>
              <a:cxnLst/>
              <a:rect l="l" t="t" r="r" b="b"/>
              <a:pathLst>
                <a:path w="4876800" h="877824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87680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Stylometric Only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8823" y="4230119"/>
            <a:ext cx="3683003" cy="61979"/>
            <a:chOff x="0" y="0"/>
            <a:chExt cx="4910671" cy="8263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4876800" cy="48768"/>
            </a:xfrm>
            <a:custGeom>
              <a:avLst/>
              <a:gdLst/>
              <a:ahLst/>
              <a:cxnLst/>
              <a:rect l="l" t="t" r="r" b="b"/>
              <a:pathLst>
                <a:path w="4876800" h="48768">
                  <a:moveTo>
                    <a:pt x="0" y="0"/>
                  </a:moveTo>
                  <a:lnTo>
                    <a:pt x="4876800" y="0"/>
                  </a:lnTo>
                  <a:lnTo>
                    <a:pt x="48768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4910582" cy="82552"/>
            </a:xfrm>
            <a:custGeom>
              <a:avLst/>
              <a:gdLst/>
              <a:ahLst/>
              <a:cxnLst/>
              <a:rect l="l" t="t" r="r" b="b"/>
              <a:pathLst>
                <a:path w="4910582" h="8255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5659"/>
                  </a:lnTo>
                  <a:cubicBezTo>
                    <a:pt x="4910582" y="75057"/>
                    <a:pt x="4902962" y="82550"/>
                    <a:pt x="489369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4893691" y="48768"/>
                  </a:lnTo>
                  <a:lnTo>
                    <a:pt x="4893691" y="65659"/>
                  </a:lnTo>
                  <a:lnTo>
                    <a:pt x="4876800" y="6565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1520" y="4370832"/>
            <a:ext cx="3657600" cy="365760"/>
            <a:chOff x="0" y="0"/>
            <a:chExt cx="4876800" cy="4876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76800" cy="487680"/>
            </a:xfrm>
            <a:custGeom>
              <a:avLst/>
              <a:gdLst/>
              <a:ahLst/>
              <a:cxnLst/>
              <a:rect l="l" t="t" r="r" b="b"/>
              <a:pathLst>
                <a:path w="4876800" h="48768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Features: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1520" y="4718304"/>
            <a:ext cx="3657600" cy="1316736"/>
            <a:chOff x="0" y="0"/>
            <a:chExt cx="4876800" cy="17556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76800" cy="1755648"/>
            </a:xfrm>
            <a:custGeom>
              <a:avLst/>
              <a:gdLst/>
              <a:ahLst/>
              <a:cxnLst/>
              <a:rect l="l" t="t" r="r" b="b"/>
              <a:pathLst>
                <a:path w="4876800" h="1755648">
                  <a:moveTo>
                    <a:pt x="0" y="0"/>
                  </a:moveTo>
                  <a:lnTo>
                    <a:pt x="4876800" y="0"/>
                  </a:lnTo>
                  <a:lnTo>
                    <a:pt x="4876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487680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stylometric features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(independently scaled)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8823" y="5985767"/>
            <a:ext cx="3683003" cy="61979"/>
            <a:chOff x="0" y="0"/>
            <a:chExt cx="4910671" cy="82639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4876800" cy="48768"/>
            </a:xfrm>
            <a:custGeom>
              <a:avLst/>
              <a:gdLst/>
              <a:ahLst/>
              <a:cxnLst/>
              <a:rect l="l" t="t" r="r" b="b"/>
              <a:pathLst>
                <a:path w="4876800" h="48768">
                  <a:moveTo>
                    <a:pt x="0" y="0"/>
                  </a:moveTo>
                  <a:lnTo>
                    <a:pt x="4876800" y="0"/>
                  </a:lnTo>
                  <a:lnTo>
                    <a:pt x="48768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4910582" cy="82552"/>
            </a:xfrm>
            <a:custGeom>
              <a:avLst/>
              <a:gdLst/>
              <a:ahLst/>
              <a:cxnLst/>
              <a:rect l="l" t="t" r="r" b="b"/>
              <a:pathLst>
                <a:path w="4910582" h="8255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5659"/>
                  </a:lnTo>
                  <a:cubicBezTo>
                    <a:pt x="4910582" y="75057"/>
                    <a:pt x="4902962" y="82550"/>
                    <a:pt x="489369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4893691" y="48768"/>
                  </a:lnTo>
                  <a:lnTo>
                    <a:pt x="4893691" y="65659"/>
                  </a:lnTo>
                  <a:lnTo>
                    <a:pt x="4876800" y="6565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31520" y="6126480"/>
            <a:ext cx="3657600" cy="365760"/>
            <a:chOff x="0" y="0"/>
            <a:chExt cx="4876800" cy="4876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76800" cy="487680"/>
            </a:xfrm>
            <a:custGeom>
              <a:avLst/>
              <a:gdLst/>
              <a:ahLst/>
              <a:cxnLst/>
              <a:rect l="l" t="t" r="r" b="b"/>
              <a:pathLst>
                <a:path w="4876800" h="48768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Isolates: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31520" y="6492240"/>
            <a:ext cx="3657600" cy="1316736"/>
            <a:chOff x="0" y="0"/>
            <a:chExt cx="4876800" cy="17556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76800" cy="1755648"/>
            </a:xfrm>
            <a:custGeom>
              <a:avLst/>
              <a:gdLst/>
              <a:ahLst/>
              <a:cxnLst/>
              <a:rect l="l" t="t" r="r" b="b"/>
              <a:pathLst>
                <a:path w="4876800" h="1755648">
                  <a:moveTo>
                    <a:pt x="0" y="0"/>
                  </a:moveTo>
                  <a:lnTo>
                    <a:pt x="4876800" y="0"/>
                  </a:lnTo>
                  <a:lnTo>
                    <a:pt x="4876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487680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 surface-level patterns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carry attribution signal alone?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18823" y="8125463"/>
            <a:ext cx="3683003" cy="537467"/>
            <a:chOff x="0" y="0"/>
            <a:chExt cx="4910671" cy="716623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4910582" cy="716536"/>
            </a:xfrm>
            <a:custGeom>
              <a:avLst/>
              <a:gdLst/>
              <a:ahLst/>
              <a:cxnLst/>
              <a:rect l="l" t="t" r="r" b="b"/>
              <a:pathLst>
                <a:path w="4910582" h="716536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99643"/>
                  </a:lnTo>
                  <a:cubicBezTo>
                    <a:pt x="4910582" y="709041"/>
                    <a:pt x="4902962" y="716534"/>
                    <a:pt x="48936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4893691" y="682752"/>
                  </a:lnTo>
                  <a:lnTo>
                    <a:pt x="4893691" y="699643"/>
                  </a:lnTo>
                  <a:lnTo>
                    <a:pt x="4876800" y="69964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31520" y="8138160"/>
            <a:ext cx="3657600" cy="512064"/>
            <a:chOff x="0" y="0"/>
            <a:chExt cx="4876800" cy="68275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type effect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870199" y="2456183"/>
            <a:ext cx="4048763" cy="976379"/>
            <a:chOff x="0" y="0"/>
            <a:chExt cx="5398351" cy="1301839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5364480" cy="1267968"/>
            </a:xfrm>
            <a:custGeom>
              <a:avLst/>
              <a:gdLst/>
              <a:ahLst/>
              <a:cxnLst/>
              <a:rect l="l" t="t" r="r" b="b"/>
              <a:pathLst>
                <a:path w="5364480" h="1267968">
                  <a:moveTo>
                    <a:pt x="0" y="0"/>
                  </a:moveTo>
                  <a:lnTo>
                    <a:pt x="5364480" y="0"/>
                  </a:lnTo>
                  <a:lnTo>
                    <a:pt x="536448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5398262" cy="1301750"/>
            </a:xfrm>
            <a:custGeom>
              <a:avLst/>
              <a:gdLst/>
              <a:ahLst/>
              <a:cxnLst/>
              <a:rect l="l" t="t" r="r" b="b"/>
              <a:pathLst>
                <a:path w="5398262" h="1301750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284859"/>
                  </a:lnTo>
                  <a:cubicBezTo>
                    <a:pt x="5398262" y="1294257"/>
                    <a:pt x="5390642" y="1301750"/>
                    <a:pt x="538137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381371" y="1267968"/>
                  </a:lnTo>
                  <a:lnTo>
                    <a:pt x="5381371" y="1284859"/>
                  </a:lnTo>
                  <a:lnTo>
                    <a:pt x="5364480" y="128485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29200" y="2615184"/>
            <a:ext cx="3749040" cy="658368"/>
            <a:chOff x="0" y="0"/>
            <a:chExt cx="4998720" cy="87782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998720" cy="877824"/>
            </a:xfrm>
            <a:custGeom>
              <a:avLst/>
              <a:gdLst/>
              <a:ahLst/>
              <a:cxnLst/>
              <a:rect l="l" t="t" r="r" b="b"/>
              <a:pathLst>
                <a:path w="4998720" h="877824">
                  <a:moveTo>
                    <a:pt x="0" y="0"/>
                  </a:moveTo>
                  <a:lnTo>
                    <a:pt x="4998720" y="0"/>
                  </a:lnTo>
                  <a:lnTo>
                    <a:pt x="4998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956" b="-6095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499872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 2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70199" y="3407159"/>
            <a:ext cx="4048763" cy="6426203"/>
            <a:chOff x="0" y="0"/>
            <a:chExt cx="5398351" cy="8568271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5364480" cy="8534400"/>
            </a:xfrm>
            <a:custGeom>
              <a:avLst/>
              <a:gdLst/>
              <a:ahLst/>
              <a:cxnLst/>
              <a:rect l="l" t="t" r="r" b="b"/>
              <a:pathLst>
                <a:path w="5364480" h="8534400">
                  <a:moveTo>
                    <a:pt x="0" y="0"/>
                  </a:moveTo>
                  <a:lnTo>
                    <a:pt x="5364480" y="0"/>
                  </a:lnTo>
                  <a:lnTo>
                    <a:pt x="536448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0" y="0"/>
              <a:ext cx="5398262" cy="8568182"/>
            </a:xfrm>
            <a:custGeom>
              <a:avLst/>
              <a:gdLst/>
              <a:ahLst/>
              <a:cxnLst/>
              <a:rect l="l" t="t" r="r" b="b"/>
              <a:pathLst>
                <a:path w="5398262" h="856818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8551291"/>
                  </a:lnTo>
                  <a:cubicBezTo>
                    <a:pt x="5398262" y="8560689"/>
                    <a:pt x="5390642" y="8568182"/>
                    <a:pt x="538137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381371" y="8534400"/>
                  </a:lnTo>
                  <a:lnTo>
                    <a:pt x="5381371" y="8551291"/>
                  </a:lnTo>
                  <a:lnTo>
                    <a:pt x="5364480" y="8551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065776" y="3602736"/>
            <a:ext cx="3657600" cy="658368"/>
            <a:chOff x="0" y="0"/>
            <a:chExt cx="4876800" cy="87782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876800" cy="877824"/>
            </a:xfrm>
            <a:custGeom>
              <a:avLst/>
              <a:gdLst/>
              <a:ahLst/>
              <a:cxnLst/>
              <a:rect l="l" t="t" r="r" b="b"/>
              <a:pathLst>
                <a:path w="4876800" h="877824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87680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PCA Semantic Only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53079" y="4230119"/>
            <a:ext cx="3683003" cy="61979"/>
            <a:chOff x="0" y="0"/>
            <a:chExt cx="4910671" cy="82639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4876800" cy="48768"/>
            </a:xfrm>
            <a:custGeom>
              <a:avLst/>
              <a:gdLst/>
              <a:ahLst/>
              <a:cxnLst/>
              <a:rect l="l" t="t" r="r" b="b"/>
              <a:pathLst>
                <a:path w="4876800" h="48768">
                  <a:moveTo>
                    <a:pt x="0" y="0"/>
                  </a:moveTo>
                  <a:lnTo>
                    <a:pt x="4876800" y="0"/>
                  </a:lnTo>
                  <a:lnTo>
                    <a:pt x="48768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0" y="0"/>
              <a:ext cx="4910582" cy="82552"/>
            </a:xfrm>
            <a:custGeom>
              <a:avLst/>
              <a:gdLst/>
              <a:ahLst/>
              <a:cxnLst/>
              <a:rect l="l" t="t" r="r" b="b"/>
              <a:pathLst>
                <a:path w="4910582" h="8255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5659"/>
                  </a:lnTo>
                  <a:cubicBezTo>
                    <a:pt x="4910582" y="75057"/>
                    <a:pt x="4902962" y="82550"/>
                    <a:pt x="489369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4893691" y="48768"/>
                  </a:lnTo>
                  <a:lnTo>
                    <a:pt x="4893691" y="65659"/>
                  </a:lnTo>
                  <a:lnTo>
                    <a:pt x="4876800" y="6565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065776" y="4370832"/>
            <a:ext cx="3657600" cy="365760"/>
            <a:chOff x="0" y="0"/>
            <a:chExt cx="4876800" cy="48768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76800" cy="487680"/>
            </a:xfrm>
            <a:custGeom>
              <a:avLst/>
              <a:gdLst/>
              <a:ahLst/>
              <a:cxnLst/>
              <a:rect l="l" t="t" r="r" b="b"/>
              <a:pathLst>
                <a:path w="4876800" h="48768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Features: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065776" y="4718304"/>
            <a:ext cx="3657600" cy="1316736"/>
            <a:chOff x="0" y="0"/>
            <a:chExt cx="4876800" cy="175564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876800" cy="1755648"/>
            </a:xfrm>
            <a:custGeom>
              <a:avLst/>
              <a:gdLst/>
              <a:ahLst/>
              <a:cxnLst/>
              <a:rect l="l" t="t" r="r" b="b"/>
              <a:pathLst>
                <a:path w="4876800" h="1755648">
                  <a:moveTo>
                    <a:pt x="0" y="0"/>
                  </a:moveTo>
                  <a:lnTo>
                    <a:pt x="4876800" y="0"/>
                  </a:lnTo>
                  <a:lnTo>
                    <a:pt x="4876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487680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~75 PCA components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all-MiniLM-L6-v2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(independently scaled)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053079" y="5985767"/>
            <a:ext cx="3683003" cy="61979"/>
            <a:chOff x="0" y="0"/>
            <a:chExt cx="4910671" cy="82639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4876800" cy="48768"/>
            </a:xfrm>
            <a:custGeom>
              <a:avLst/>
              <a:gdLst/>
              <a:ahLst/>
              <a:cxnLst/>
              <a:rect l="l" t="t" r="r" b="b"/>
              <a:pathLst>
                <a:path w="4876800" h="48768">
                  <a:moveTo>
                    <a:pt x="0" y="0"/>
                  </a:moveTo>
                  <a:lnTo>
                    <a:pt x="4876800" y="0"/>
                  </a:lnTo>
                  <a:lnTo>
                    <a:pt x="48768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3" name="Freeform 73"/>
            <p:cNvSpPr/>
            <p:nvPr/>
          </p:nvSpPr>
          <p:spPr>
            <a:xfrm>
              <a:off x="0" y="0"/>
              <a:ext cx="4910582" cy="82552"/>
            </a:xfrm>
            <a:custGeom>
              <a:avLst/>
              <a:gdLst/>
              <a:ahLst/>
              <a:cxnLst/>
              <a:rect l="l" t="t" r="r" b="b"/>
              <a:pathLst>
                <a:path w="4910582" h="8255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5659"/>
                  </a:lnTo>
                  <a:cubicBezTo>
                    <a:pt x="4910582" y="75057"/>
                    <a:pt x="4902962" y="82550"/>
                    <a:pt x="489369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4893691" y="48768"/>
                  </a:lnTo>
                  <a:lnTo>
                    <a:pt x="4893691" y="65659"/>
                  </a:lnTo>
                  <a:lnTo>
                    <a:pt x="4876800" y="6565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065776" y="6126480"/>
            <a:ext cx="3657600" cy="365760"/>
            <a:chOff x="0" y="0"/>
            <a:chExt cx="4876800" cy="48768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76800" cy="487680"/>
            </a:xfrm>
            <a:custGeom>
              <a:avLst/>
              <a:gdLst/>
              <a:ahLst/>
              <a:cxnLst/>
              <a:rect l="l" t="t" r="r" b="b"/>
              <a:pathLst>
                <a:path w="4876800" h="48768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Isolates: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065776" y="6492240"/>
            <a:ext cx="3657600" cy="1316736"/>
            <a:chOff x="0" y="0"/>
            <a:chExt cx="4876800" cy="175564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876800" cy="1755648"/>
            </a:xfrm>
            <a:custGeom>
              <a:avLst/>
              <a:gdLst/>
              <a:ahLst/>
              <a:cxnLst/>
              <a:rect l="l" t="t" r="r" b="b"/>
              <a:pathLst>
                <a:path w="4876800" h="1755648">
                  <a:moveTo>
                    <a:pt x="0" y="0"/>
                  </a:moveTo>
                  <a:lnTo>
                    <a:pt x="4876800" y="0"/>
                  </a:lnTo>
                  <a:lnTo>
                    <a:pt x="4876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487680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Does compressed semantic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representation alone suffice?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053079" y="8125463"/>
            <a:ext cx="3683003" cy="537467"/>
            <a:chOff x="0" y="0"/>
            <a:chExt cx="4910671" cy="716623"/>
          </a:xfrm>
        </p:grpSpPr>
        <p:sp>
          <p:nvSpPr>
            <p:cNvPr id="81" name="Freeform 81"/>
            <p:cNvSpPr/>
            <p:nvPr/>
          </p:nvSpPr>
          <p:spPr>
            <a:xfrm>
              <a:off x="16891" y="16891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2" name="Freeform 82"/>
            <p:cNvSpPr/>
            <p:nvPr/>
          </p:nvSpPr>
          <p:spPr>
            <a:xfrm>
              <a:off x="0" y="0"/>
              <a:ext cx="4910582" cy="716536"/>
            </a:xfrm>
            <a:custGeom>
              <a:avLst/>
              <a:gdLst/>
              <a:ahLst/>
              <a:cxnLst/>
              <a:rect l="l" t="t" r="r" b="b"/>
              <a:pathLst>
                <a:path w="4910582" h="716536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99643"/>
                  </a:lnTo>
                  <a:cubicBezTo>
                    <a:pt x="4910582" y="709041"/>
                    <a:pt x="4902962" y="716534"/>
                    <a:pt x="48936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4893691" y="682752"/>
                  </a:lnTo>
                  <a:lnTo>
                    <a:pt x="4893691" y="699643"/>
                  </a:lnTo>
                  <a:lnTo>
                    <a:pt x="4876800" y="69964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065776" y="8138160"/>
            <a:ext cx="3657600" cy="512064"/>
            <a:chOff x="0" y="0"/>
            <a:chExt cx="4876800" cy="68275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type effect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204455" y="2456183"/>
            <a:ext cx="4048763" cy="976379"/>
            <a:chOff x="0" y="0"/>
            <a:chExt cx="5398351" cy="1301839"/>
          </a:xfrm>
        </p:grpSpPr>
        <p:sp>
          <p:nvSpPr>
            <p:cNvPr id="87" name="Freeform 87"/>
            <p:cNvSpPr/>
            <p:nvPr/>
          </p:nvSpPr>
          <p:spPr>
            <a:xfrm>
              <a:off x="16891" y="16891"/>
              <a:ext cx="5364480" cy="1267968"/>
            </a:xfrm>
            <a:custGeom>
              <a:avLst/>
              <a:gdLst/>
              <a:ahLst/>
              <a:cxnLst/>
              <a:rect l="l" t="t" r="r" b="b"/>
              <a:pathLst>
                <a:path w="5364480" h="1267968">
                  <a:moveTo>
                    <a:pt x="0" y="0"/>
                  </a:moveTo>
                  <a:lnTo>
                    <a:pt x="5364480" y="0"/>
                  </a:lnTo>
                  <a:lnTo>
                    <a:pt x="536448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8" name="Freeform 88"/>
            <p:cNvSpPr/>
            <p:nvPr/>
          </p:nvSpPr>
          <p:spPr>
            <a:xfrm>
              <a:off x="0" y="0"/>
              <a:ext cx="5398262" cy="1301750"/>
            </a:xfrm>
            <a:custGeom>
              <a:avLst/>
              <a:gdLst/>
              <a:ahLst/>
              <a:cxnLst/>
              <a:rect l="l" t="t" r="r" b="b"/>
              <a:pathLst>
                <a:path w="5398262" h="1301750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284859"/>
                  </a:lnTo>
                  <a:cubicBezTo>
                    <a:pt x="5398262" y="1294257"/>
                    <a:pt x="5390642" y="1301750"/>
                    <a:pt x="538137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381371" y="1267968"/>
                  </a:lnTo>
                  <a:lnTo>
                    <a:pt x="5381371" y="1284859"/>
                  </a:lnTo>
                  <a:lnTo>
                    <a:pt x="5364480" y="128485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363456" y="2615184"/>
            <a:ext cx="3749040" cy="658368"/>
            <a:chOff x="0" y="0"/>
            <a:chExt cx="4998720" cy="87782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998720" cy="877824"/>
            </a:xfrm>
            <a:custGeom>
              <a:avLst/>
              <a:gdLst/>
              <a:ahLst/>
              <a:cxnLst/>
              <a:rect l="l" t="t" r="r" b="b"/>
              <a:pathLst>
                <a:path w="4998720" h="877824">
                  <a:moveTo>
                    <a:pt x="0" y="0"/>
                  </a:moveTo>
                  <a:lnTo>
                    <a:pt x="4998720" y="0"/>
                  </a:lnTo>
                  <a:lnTo>
                    <a:pt x="4998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956" b="-6095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499872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 3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204455" y="3407159"/>
            <a:ext cx="4048763" cy="6426203"/>
            <a:chOff x="0" y="0"/>
            <a:chExt cx="5398351" cy="8568271"/>
          </a:xfrm>
        </p:grpSpPr>
        <p:sp>
          <p:nvSpPr>
            <p:cNvPr id="93" name="Freeform 93"/>
            <p:cNvSpPr/>
            <p:nvPr/>
          </p:nvSpPr>
          <p:spPr>
            <a:xfrm>
              <a:off x="16891" y="16891"/>
              <a:ext cx="5364480" cy="8534400"/>
            </a:xfrm>
            <a:custGeom>
              <a:avLst/>
              <a:gdLst/>
              <a:ahLst/>
              <a:cxnLst/>
              <a:rect l="l" t="t" r="r" b="b"/>
              <a:pathLst>
                <a:path w="5364480" h="8534400">
                  <a:moveTo>
                    <a:pt x="0" y="0"/>
                  </a:moveTo>
                  <a:lnTo>
                    <a:pt x="5364480" y="0"/>
                  </a:lnTo>
                  <a:lnTo>
                    <a:pt x="536448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94" name="Freeform 94"/>
            <p:cNvSpPr/>
            <p:nvPr/>
          </p:nvSpPr>
          <p:spPr>
            <a:xfrm>
              <a:off x="0" y="0"/>
              <a:ext cx="5398262" cy="8568182"/>
            </a:xfrm>
            <a:custGeom>
              <a:avLst/>
              <a:gdLst/>
              <a:ahLst/>
              <a:cxnLst/>
              <a:rect l="l" t="t" r="r" b="b"/>
              <a:pathLst>
                <a:path w="5398262" h="856818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8551291"/>
                  </a:lnTo>
                  <a:cubicBezTo>
                    <a:pt x="5398262" y="8560689"/>
                    <a:pt x="5390642" y="8568182"/>
                    <a:pt x="538137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381371" y="8534400"/>
                  </a:lnTo>
                  <a:lnTo>
                    <a:pt x="5381371" y="8551291"/>
                  </a:lnTo>
                  <a:lnTo>
                    <a:pt x="5364480" y="8551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400032" y="3602736"/>
            <a:ext cx="3657600" cy="658368"/>
            <a:chOff x="0" y="0"/>
            <a:chExt cx="4876800" cy="87782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876800" cy="877824"/>
            </a:xfrm>
            <a:custGeom>
              <a:avLst/>
              <a:gdLst/>
              <a:ahLst/>
              <a:cxnLst/>
              <a:rect l="l" t="t" r="r" b="b"/>
              <a:pathLst>
                <a:path w="4876800" h="877824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487680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Combined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387335" y="4230119"/>
            <a:ext cx="3683003" cy="61979"/>
            <a:chOff x="0" y="0"/>
            <a:chExt cx="4910671" cy="82639"/>
          </a:xfrm>
        </p:grpSpPr>
        <p:sp>
          <p:nvSpPr>
            <p:cNvPr id="99" name="Freeform 99"/>
            <p:cNvSpPr/>
            <p:nvPr/>
          </p:nvSpPr>
          <p:spPr>
            <a:xfrm>
              <a:off x="16891" y="16891"/>
              <a:ext cx="4876800" cy="48768"/>
            </a:xfrm>
            <a:custGeom>
              <a:avLst/>
              <a:gdLst/>
              <a:ahLst/>
              <a:cxnLst/>
              <a:rect l="l" t="t" r="r" b="b"/>
              <a:pathLst>
                <a:path w="4876800" h="48768">
                  <a:moveTo>
                    <a:pt x="0" y="0"/>
                  </a:moveTo>
                  <a:lnTo>
                    <a:pt x="4876800" y="0"/>
                  </a:lnTo>
                  <a:lnTo>
                    <a:pt x="48768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0" name="Freeform 100"/>
            <p:cNvSpPr/>
            <p:nvPr/>
          </p:nvSpPr>
          <p:spPr>
            <a:xfrm>
              <a:off x="0" y="0"/>
              <a:ext cx="4910582" cy="82552"/>
            </a:xfrm>
            <a:custGeom>
              <a:avLst/>
              <a:gdLst/>
              <a:ahLst/>
              <a:cxnLst/>
              <a:rect l="l" t="t" r="r" b="b"/>
              <a:pathLst>
                <a:path w="4910582" h="8255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5659"/>
                  </a:lnTo>
                  <a:cubicBezTo>
                    <a:pt x="4910582" y="75057"/>
                    <a:pt x="4902962" y="82550"/>
                    <a:pt x="489369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4893691" y="48768"/>
                  </a:lnTo>
                  <a:lnTo>
                    <a:pt x="4893691" y="65659"/>
                  </a:lnTo>
                  <a:lnTo>
                    <a:pt x="4876800" y="6565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400032" y="4370832"/>
            <a:ext cx="3657600" cy="365760"/>
            <a:chOff x="0" y="0"/>
            <a:chExt cx="4876800" cy="48768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4876800" cy="487680"/>
            </a:xfrm>
            <a:custGeom>
              <a:avLst/>
              <a:gdLst/>
              <a:ahLst/>
              <a:cxnLst/>
              <a:rect l="l" t="t" r="r" b="b"/>
              <a:pathLst>
                <a:path w="4876800" h="48768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Features: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9400032" y="4718304"/>
            <a:ext cx="3657600" cy="1316736"/>
            <a:chOff x="0" y="0"/>
            <a:chExt cx="4876800" cy="1755648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4876800" cy="1755648"/>
            </a:xfrm>
            <a:custGeom>
              <a:avLst/>
              <a:gdLst/>
              <a:ahLst/>
              <a:cxnLst/>
              <a:rect l="l" t="t" r="r" b="b"/>
              <a:pathLst>
                <a:path w="4876800" h="1755648">
                  <a:moveTo>
                    <a:pt x="0" y="0"/>
                  </a:moveTo>
                  <a:lnTo>
                    <a:pt x="4876800" y="0"/>
                  </a:lnTo>
                  <a:lnTo>
                    <a:pt x="4876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47625"/>
              <a:ext cx="487680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~83 dimensions total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(8 stylo + ~75 PCA)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independently scaled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9387335" y="5985767"/>
            <a:ext cx="3683003" cy="61979"/>
            <a:chOff x="0" y="0"/>
            <a:chExt cx="4910671" cy="82639"/>
          </a:xfrm>
        </p:grpSpPr>
        <p:sp>
          <p:nvSpPr>
            <p:cNvPr id="108" name="Freeform 108"/>
            <p:cNvSpPr/>
            <p:nvPr/>
          </p:nvSpPr>
          <p:spPr>
            <a:xfrm>
              <a:off x="16891" y="16891"/>
              <a:ext cx="4876800" cy="48768"/>
            </a:xfrm>
            <a:custGeom>
              <a:avLst/>
              <a:gdLst/>
              <a:ahLst/>
              <a:cxnLst/>
              <a:rect l="l" t="t" r="r" b="b"/>
              <a:pathLst>
                <a:path w="4876800" h="48768">
                  <a:moveTo>
                    <a:pt x="0" y="0"/>
                  </a:moveTo>
                  <a:lnTo>
                    <a:pt x="4876800" y="0"/>
                  </a:lnTo>
                  <a:lnTo>
                    <a:pt x="48768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9" name="Freeform 109"/>
            <p:cNvSpPr/>
            <p:nvPr/>
          </p:nvSpPr>
          <p:spPr>
            <a:xfrm>
              <a:off x="0" y="0"/>
              <a:ext cx="4910582" cy="82552"/>
            </a:xfrm>
            <a:custGeom>
              <a:avLst/>
              <a:gdLst/>
              <a:ahLst/>
              <a:cxnLst/>
              <a:rect l="l" t="t" r="r" b="b"/>
              <a:pathLst>
                <a:path w="4910582" h="8255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5659"/>
                  </a:lnTo>
                  <a:cubicBezTo>
                    <a:pt x="4910582" y="75057"/>
                    <a:pt x="4902962" y="82550"/>
                    <a:pt x="489369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4893691" y="48768"/>
                  </a:lnTo>
                  <a:lnTo>
                    <a:pt x="4893691" y="65659"/>
                  </a:lnTo>
                  <a:lnTo>
                    <a:pt x="4876800" y="6565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400032" y="6126480"/>
            <a:ext cx="3657600" cy="365760"/>
            <a:chOff x="0" y="0"/>
            <a:chExt cx="4876800" cy="48768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876800" cy="487680"/>
            </a:xfrm>
            <a:custGeom>
              <a:avLst/>
              <a:gdLst/>
              <a:ahLst/>
              <a:cxnLst/>
              <a:rect l="l" t="t" r="r" b="b"/>
              <a:pathLst>
                <a:path w="4876800" h="48768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Isolates: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400032" y="6492240"/>
            <a:ext cx="3657600" cy="1316736"/>
            <a:chOff x="0" y="0"/>
            <a:chExt cx="4876800" cy="1755648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876800" cy="1755648"/>
            </a:xfrm>
            <a:custGeom>
              <a:avLst/>
              <a:gdLst/>
              <a:ahLst/>
              <a:cxnLst/>
              <a:rect l="l" t="t" r="r" b="b"/>
              <a:pathLst>
                <a:path w="4876800" h="1755648">
                  <a:moveTo>
                    <a:pt x="0" y="0"/>
                  </a:moveTo>
                  <a:lnTo>
                    <a:pt x="4876800" y="0"/>
                  </a:lnTo>
                  <a:lnTo>
                    <a:pt x="4876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0" y="-47625"/>
              <a:ext cx="487680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Does combining both types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beat either alone? (RQ4)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9387335" y="8125463"/>
            <a:ext cx="3683003" cy="537467"/>
            <a:chOff x="0" y="0"/>
            <a:chExt cx="4910671" cy="716623"/>
          </a:xfrm>
        </p:grpSpPr>
        <p:sp>
          <p:nvSpPr>
            <p:cNvPr id="117" name="Freeform 117"/>
            <p:cNvSpPr/>
            <p:nvPr/>
          </p:nvSpPr>
          <p:spPr>
            <a:xfrm>
              <a:off x="16891" y="16891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18" name="Freeform 118"/>
            <p:cNvSpPr/>
            <p:nvPr/>
          </p:nvSpPr>
          <p:spPr>
            <a:xfrm>
              <a:off x="0" y="0"/>
              <a:ext cx="4910582" cy="716536"/>
            </a:xfrm>
            <a:custGeom>
              <a:avLst/>
              <a:gdLst/>
              <a:ahLst/>
              <a:cxnLst/>
              <a:rect l="l" t="t" r="r" b="b"/>
              <a:pathLst>
                <a:path w="4910582" h="716536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99643"/>
                  </a:lnTo>
                  <a:cubicBezTo>
                    <a:pt x="4910582" y="709041"/>
                    <a:pt x="4902962" y="716534"/>
                    <a:pt x="48936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4893691" y="682752"/>
                  </a:lnTo>
                  <a:lnTo>
                    <a:pt x="4893691" y="699643"/>
                  </a:lnTo>
                  <a:lnTo>
                    <a:pt x="4876800" y="69964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400032" y="8138160"/>
            <a:ext cx="3657600" cy="512064"/>
            <a:chOff x="0" y="0"/>
            <a:chExt cx="4876800" cy="682752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type effect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3538711" y="2456183"/>
            <a:ext cx="4048763" cy="976379"/>
            <a:chOff x="0" y="0"/>
            <a:chExt cx="5398351" cy="1301839"/>
          </a:xfrm>
        </p:grpSpPr>
        <p:sp>
          <p:nvSpPr>
            <p:cNvPr id="123" name="Freeform 123"/>
            <p:cNvSpPr/>
            <p:nvPr/>
          </p:nvSpPr>
          <p:spPr>
            <a:xfrm>
              <a:off x="16891" y="16891"/>
              <a:ext cx="5364480" cy="1267968"/>
            </a:xfrm>
            <a:custGeom>
              <a:avLst/>
              <a:gdLst/>
              <a:ahLst/>
              <a:cxnLst/>
              <a:rect l="l" t="t" r="r" b="b"/>
              <a:pathLst>
                <a:path w="5364480" h="1267968">
                  <a:moveTo>
                    <a:pt x="0" y="0"/>
                  </a:moveTo>
                  <a:lnTo>
                    <a:pt x="5364480" y="0"/>
                  </a:lnTo>
                  <a:lnTo>
                    <a:pt x="536448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6D28D9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24" name="Freeform 124"/>
            <p:cNvSpPr/>
            <p:nvPr/>
          </p:nvSpPr>
          <p:spPr>
            <a:xfrm>
              <a:off x="0" y="0"/>
              <a:ext cx="5398262" cy="1301750"/>
            </a:xfrm>
            <a:custGeom>
              <a:avLst/>
              <a:gdLst/>
              <a:ahLst/>
              <a:cxnLst/>
              <a:rect l="l" t="t" r="r" b="b"/>
              <a:pathLst>
                <a:path w="5398262" h="1301750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284859"/>
                  </a:lnTo>
                  <a:cubicBezTo>
                    <a:pt x="5398262" y="1294257"/>
                    <a:pt x="5390642" y="1301750"/>
                    <a:pt x="538137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381371" y="1267968"/>
                  </a:lnTo>
                  <a:lnTo>
                    <a:pt x="5381371" y="1284859"/>
                  </a:lnTo>
                  <a:lnTo>
                    <a:pt x="5364480" y="128485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D28D9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3697712" y="2615184"/>
            <a:ext cx="3749040" cy="658368"/>
            <a:chOff x="0" y="0"/>
            <a:chExt cx="4998720" cy="877824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4998720" cy="877824"/>
            </a:xfrm>
            <a:custGeom>
              <a:avLst/>
              <a:gdLst/>
              <a:ahLst/>
              <a:cxnLst/>
              <a:rect l="l" t="t" r="r" b="b"/>
              <a:pathLst>
                <a:path w="4998720" h="877824">
                  <a:moveTo>
                    <a:pt x="0" y="0"/>
                  </a:moveTo>
                  <a:lnTo>
                    <a:pt x="4998720" y="0"/>
                  </a:lnTo>
                  <a:lnTo>
                    <a:pt x="4998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956" b="-6095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0" y="-38100"/>
              <a:ext cx="499872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 4 ★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3538711" y="3407159"/>
            <a:ext cx="4048763" cy="6426203"/>
            <a:chOff x="0" y="0"/>
            <a:chExt cx="5398351" cy="8568271"/>
          </a:xfrm>
        </p:grpSpPr>
        <p:sp>
          <p:nvSpPr>
            <p:cNvPr id="129" name="Freeform 129"/>
            <p:cNvSpPr/>
            <p:nvPr/>
          </p:nvSpPr>
          <p:spPr>
            <a:xfrm>
              <a:off x="16891" y="16891"/>
              <a:ext cx="5364480" cy="8534400"/>
            </a:xfrm>
            <a:custGeom>
              <a:avLst/>
              <a:gdLst/>
              <a:ahLst/>
              <a:cxnLst/>
              <a:rect l="l" t="t" r="r" b="b"/>
              <a:pathLst>
                <a:path w="5364480" h="8534400">
                  <a:moveTo>
                    <a:pt x="0" y="0"/>
                  </a:moveTo>
                  <a:lnTo>
                    <a:pt x="5364480" y="0"/>
                  </a:lnTo>
                  <a:lnTo>
                    <a:pt x="536448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0" name="Freeform 130"/>
            <p:cNvSpPr/>
            <p:nvPr/>
          </p:nvSpPr>
          <p:spPr>
            <a:xfrm>
              <a:off x="0" y="0"/>
              <a:ext cx="5398262" cy="8568182"/>
            </a:xfrm>
            <a:custGeom>
              <a:avLst/>
              <a:gdLst/>
              <a:ahLst/>
              <a:cxnLst/>
              <a:rect l="l" t="t" r="r" b="b"/>
              <a:pathLst>
                <a:path w="5398262" h="856818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8551291"/>
                  </a:lnTo>
                  <a:cubicBezTo>
                    <a:pt x="5398262" y="8560689"/>
                    <a:pt x="5390642" y="8568182"/>
                    <a:pt x="538137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381371" y="8534400"/>
                  </a:lnTo>
                  <a:lnTo>
                    <a:pt x="5381371" y="8551291"/>
                  </a:lnTo>
                  <a:lnTo>
                    <a:pt x="5364480" y="8551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3734288" y="3602736"/>
            <a:ext cx="3657600" cy="658368"/>
            <a:chOff x="0" y="0"/>
            <a:chExt cx="4876800" cy="877824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4876800" cy="877824"/>
            </a:xfrm>
            <a:custGeom>
              <a:avLst/>
              <a:gdLst/>
              <a:ahLst/>
              <a:cxnLst/>
              <a:rect l="l" t="t" r="r" b="b"/>
              <a:pathLst>
                <a:path w="4876800" h="877824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0" y="-38100"/>
              <a:ext cx="487680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6D28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Ensemble — Primary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3721591" y="4230119"/>
            <a:ext cx="3683003" cy="61979"/>
            <a:chOff x="0" y="0"/>
            <a:chExt cx="4910671" cy="82639"/>
          </a:xfrm>
        </p:grpSpPr>
        <p:sp>
          <p:nvSpPr>
            <p:cNvPr id="135" name="Freeform 135"/>
            <p:cNvSpPr/>
            <p:nvPr/>
          </p:nvSpPr>
          <p:spPr>
            <a:xfrm>
              <a:off x="16891" y="16891"/>
              <a:ext cx="4876800" cy="48768"/>
            </a:xfrm>
            <a:custGeom>
              <a:avLst/>
              <a:gdLst/>
              <a:ahLst/>
              <a:cxnLst/>
              <a:rect l="l" t="t" r="r" b="b"/>
              <a:pathLst>
                <a:path w="4876800" h="48768">
                  <a:moveTo>
                    <a:pt x="0" y="0"/>
                  </a:moveTo>
                  <a:lnTo>
                    <a:pt x="4876800" y="0"/>
                  </a:lnTo>
                  <a:lnTo>
                    <a:pt x="48768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6" name="Freeform 136"/>
            <p:cNvSpPr/>
            <p:nvPr/>
          </p:nvSpPr>
          <p:spPr>
            <a:xfrm>
              <a:off x="0" y="0"/>
              <a:ext cx="4910582" cy="82552"/>
            </a:xfrm>
            <a:custGeom>
              <a:avLst/>
              <a:gdLst/>
              <a:ahLst/>
              <a:cxnLst/>
              <a:rect l="l" t="t" r="r" b="b"/>
              <a:pathLst>
                <a:path w="4910582" h="8255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5659"/>
                  </a:lnTo>
                  <a:cubicBezTo>
                    <a:pt x="4910582" y="75057"/>
                    <a:pt x="4902962" y="82550"/>
                    <a:pt x="489369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4893691" y="48768"/>
                  </a:lnTo>
                  <a:lnTo>
                    <a:pt x="4893691" y="65659"/>
                  </a:lnTo>
                  <a:lnTo>
                    <a:pt x="4876800" y="6565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3734288" y="4370832"/>
            <a:ext cx="3657600" cy="365760"/>
            <a:chOff x="0" y="0"/>
            <a:chExt cx="4876800" cy="48768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4876800" cy="487680"/>
            </a:xfrm>
            <a:custGeom>
              <a:avLst/>
              <a:gdLst/>
              <a:ahLst/>
              <a:cxnLst/>
              <a:rect l="l" t="t" r="r" b="b"/>
              <a:pathLst>
                <a:path w="4876800" h="48768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Features: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13734288" y="4718304"/>
            <a:ext cx="3657600" cy="1316736"/>
            <a:chOff x="0" y="0"/>
            <a:chExt cx="4876800" cy="1755648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4876800" cy="1755648"/>
            </a:xfrm>
            <a:custGeom>
              <a:avLst/>
              <a:gdLst/>
              <a:ahLst/>
              <a:cxnLst/>
              <a:rect l="l" t="t" r="r" b="b"/>
              <a:pathLst>
                <a:path w="4876800" h="1755648">
                  <a:moveTo>
                    <a:pt x="0" y="0"/>
                  </a:moveTo>
                  <a:lnTo>
                    <a:pt x="4876800" y="0"/>
                  </a:lnTo>
                  <a:lnTo>
                    <a:pt x="4876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0" y="-47625"/>
              <a:ext cx="487680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+ RF + MLP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 vote on ~83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combined features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3721591" y="5985767"/>
            <a:ext cx="3683003" cy="61979"/>
            <a:chOff x="0" y="0"/>
            <a:chExt cx="4910671" cy="82639"/>
          </a:xfrm>
        </p:grpSpPr>
        <p:sp>
          <p:nvSpPr>
            <p:cNvPr id="144" name="Freeform 144"/>
            <p:cNvSpPr/>
            <p:nvPr/>
          </p:nvSpPr>
          <p:spPr>
            <a:xfrm>
              <a:off x="16891" y="16891"/>
              <a:ext cx="4876800" cy="48768"/>
            </a:xfrm>
            <a:custGeom>
              <a:avLst/>
              <a:gdLst/>
              <a:ahLst/>
              <a:cxnLst/>
              <a:rect l="l" t="t" r="r" b="b"/>
              <a:pathLst>
                <a:path w="4876800" h="48768">
                  <a:moveTo>
                    <a:pt x="0" y="0"/>
                  </a:moveTo>
                  <a:lnTo>
                    <a:pt x="4876800" y="0"/>
                  </a:lnTo>
                  <a:lnTo>
                    <a:pt x="48768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45" name="Freeform 145"/>
            <p:cNvSpPr/>
            <p:nvPr/>
          </p:nvSpPr>
          <p:spPr>
            <a:xfrm>
              <a:off x="0" y="0"/>
              <a:ext cx="4910582" cy="82552"/>
            </a:xfrm>
            <a:custGeom>
              <a:avLst/>
              <a:gdLst/>
              <a:ahLst/>
              <a:cxnLst/>
              <a:rect l="l" t="t" r="r" b="b"/>
              <a:pathLst>
                <a:path w="4910582" h="8255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5659"/>
                  </a:lnTo>
                  <a:cubicBezTo>
                    <a:pt x="4910582" y="75057"/>
                    <a:pt x="4902962" y="82550"/>
                    <a:pt x="489369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4893691" y="48768"/>
                  </a:lnTo>
                  <a:lnTo>
                    <a:pt x="4893691" y="65659"/>
                  </a:lnTo>
                  <a:lnTo>
                    <a:pt x="4876800" y="6565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3734288" y="6126480"/>
            <a:ext cx="3657600" cy="365760"/>
            <a:chOff x="0" y="0"/>
            <a:chExt cx="4876800" cy="487680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4876800" cy="487680"/>
            </a:xfrm>
            <a:custGeom>
              <a:avLst/>
              <a:gdLst/>
              <a:ahLst/>
              <a:cxnLst/>
              <a:rect l="l" t="t" r="r" b="b"/>
              <a:pathLst>
                <a:path w="4876800" h="48768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Isolates: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13734288" y="6492240"/>
            <a:ext cx="3657600" cy="1316736"/>
            <a:chOff x="0" y="0"/>
            <a:chExt cx="4876800" cy="1755648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4876800" cy="1755648"/>
            </a:xfrm>
            <a:custGeom>
              <a:avLst/>
              <a:gdLst/>
              <a:ahLst/>
              <a:cxnLst/>
              <a:rect l="l" t="t" r="r" b="b"/>
              <a:pathLst>
                <a:path w="4876800" h="1755648">
                  <a:moveTo>
                    <a:pt x="0" y="0"/>
                  </a:moveTo>
                  <a:lnTo>
                    <a:pt x="4876800" y="0"/>
                  </a:lnTo>
                  <a:lnTo>
                    <a:pt x="4876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0" y="-47625"/>
              <a:ext cx="4876800" cy="1803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Does multi-classifier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voting add benefit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beyond Config 3?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13721591" y="8125463"/>
            <a:ext cx="3683003" cy="537467"/>
            <a:chOff x="0" y="0"/>
            <a:chExt cx="4910671" cy="716623"/>
          </a:xfrm>
        </p:grpSpPr>
        <p:sp>
          <p:nvSpPr>
            <p:cNvPr id="153" name="Freeform 153"/>
            <p:cNvSpPr/>
            <p:nvPr/>
          </p:nvSpPr>
          <p:spPr>
            <a:xfrm>
              <a:off x="16891" y="16891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6D28D9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54" name="Freeform 154"/>
            <p:cNvSpPr/>
            <p:nvPr/>
          </p:nvSpPr>
          <p:spPr>
            <a:xfrm>
              <a:off x="0" y="0"/>
              <a:ext cx="4910582" cy="716536"/>
            </a:xfrm>
            <a:custGeom>
              <a:avLst/>
              <a:gdLst/>
              <a:ahLst/>
              <a:cxnLst/>
              <a:rect l="l" t="t" r="r" b="b"/>
              <a:pathLst>
                <a:path w="4910582" h="716536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699643"/>
                  </a:lnTo>
                  <a:cubicBezTo>
                    <a:pt x="4910582" y="709041"/>
                    <a:pt x="4902962" y="716534"/>
                    <a:pt x="489369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4893691" y="682752"/>
                  </a:lnTo>
                  <a:lnTo>
                    <a:pt x="4893691" y="699643"/>
                  </a:lnTo>
                  <a:lnTo>
                    <a:pt x="4876800" y="69964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D28D9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13734288" y="8138160"/>
            <a:ext cx="3657600" cy="512064"/>
            <a:chOff x="0" y="0"/>
            <a:chExt cx="4876800" cy="682752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4876800" cy="682752"/>
            </a:xfrm>
            <a:custGeom>
              <a:avLst/>
              <a:gdLst/>
              <a:ahLst/>
              <a:cxnLst/>
              <a:rect l="l" t="t" r="r" b="b"/>
              <a:pathLst>
                <a:path w="4876800" h="682752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Classifier architecture</a:t>
              </a:r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Results — Projected F1 by Edit Condition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Planning estimates from comparable studies — actual values determined empirically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85216" y="1207008"/>
            <a:ext cx="13606272" cy="8851392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12148823" y="2456183"/>
            <a:ext cx="5786123" cy="1451867"/>
            <a:chOff x="0" y="0"/>
            <a:chExt cx="7714831" cy="1935823"/>
          </a:xfrm>
        </p:grpSpPr>
        <p:sp>
          <p:nvSpPr>
            <p:cNvPr id="16" name="Freeform 16"/>
            <p:cNvSpPr/>
            <p:nvPr/>
          </p:nvSpPr>
          <p:spPr>
            <a:xfrm>
              <a:off x="16891" y="16891"/>
              <a:ext cx="7680960" cy="1901952"/>
            </a:xfrm>
            <a:custGeom>
              <a:avLst/>
              <a:gdLst/>
              <a:ahLst/>
              <a:cxnLst/>
              <a:rect l="l" t="t" r="r" b="b"/>
              <a:pathLst>
                <a:path w="7680960" h="1901952">
                  <a:moveTo>
                    <a:pt x="0" y="0"/>
                  </a:moveTo>
                  <a:lnTo>
                    <a:pt x="7680960" y="0"/>
                  </a:lnTo>
                  <a:lnTo>
                    <a:pt x="76809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7714742" cy="1935734"/>
            </a:xfrm>
            <a:custGeom>
              <a:avLst/>
              <a:gdLst/>
              <a:ahLst/>
              <a:cxnLst/>
              <a:rect l="l" t="t" r="r" b="b"/>
              <a:pathLst>
                <a:path w="7714742" h="1935734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1918843"/>
                  </a:lnTo>
                  <a:cubicBezTo>
                    <a:pt x="7714742" y="1928241"/>
                    <a:pt x="7707122" y="1935734"/>
                    <a:pt x="76978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7697851" y="1901952"/>
                  </a:lnTo>
                  <a:lnTo>
                    <a:pt x="7697851" y="1918843"/>
                  </a:lnTo>
                  <a:lnTo>
                    <a:pt x="7680960" y="1918843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48823" y="2456183"/>
            <a:ext cx="153419" cy="1451867"/>
            <a:chOff x="0" y="0"/>
            <a:chExt cx="204559" cy="1935823"/>
          </a:xfrm>
        </p:grpSpPr>
        <p:sp>
          <p:nvSpPr>
            <p:cNvPr id="19" name="Freeform 19"/>
            <p:cNvSpPr/>
            <p:nvPr/>
          </p:nvSpPr>
          <p:spPr>
            <a:xfrm>
              <a:off x="16891" y="16891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04470" cy="1935734"/>
            </a:xfrm>
            <a:custGeom>
              <a:avLst/>
              <a:gdLst/>
              <a:ahLst/>
              <a:cxnLst/>
              <a:rect l="l" t="t" r="r" b="b"/>
              <a:pathLst>
                <a:path w="204470" h="1935734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435840" y="2560320"/>
            <a:ext cx="5303520" cy="402336"/>
            <a:chOff x="0" y="0"/>
            <a:chExt cx="7071360" cy="5364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71360" cy="536448"/>
            </a:xfrm>
            <a:custGeom>
              <a:avLst/>
              <a:gdLst/>
              <a:ahLst/>
              <a:cxnLst/>
              <a:rect l="l" t="t" r="r" b="b"/>
              <a:pathLst>
                <a:path w="7071360" h="536448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848" b="-20684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 A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435840" y="2926080"/>
            <a:ext cx="5303520" cy="402336"/>
            <a:chOff x="0" y="0"/>
            <a:chExt cx="7071360" cy="5364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71360" cy="536448"/>
            </a:xfrm>
            <a:custGeom>
              <a:avLst/>
              <a:gdLst/>
              <a:ahLst/>
              <a:cxnLst/>
              <a:rect l="l" t="t" r="r" b="b"/>
              <a:pathLst>
                <a:path w="7071360" h="536448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848" b="-20684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7071360" cy="584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Attribution Survives Light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35840" y="3310128"/>
            <a:ext cx="5303520" cy="512064"/>
            <a:chOff x="0" y="0"/>
            <a:chExt cx="7071360" cy="68275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071360" cy="682752"/>
            </a:xfrm>
            <a:custGeom>
              <a:avLst/>
              <a:gdLst/>
              <a:ahLst/>
              <a:cxnLst/>
              <a:rect l="l" t="t" r="r" b="b"/>
              <a:pathLst>
                <a:path w="7071360" h="682752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809" b="-15180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 ≥ 0.65 at ~40%: fingerprints robust to light rewriting.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148823" y="4138679"/>
            <a:ext cx="5786123" cy="1451867"/>
            <a:chOff x="0" y="0"/>
            <a:chExt cx="7714831" cy="1935823"/>
          </a:xfrm>
        </p:grpSpPr>
        <p:sp>
          <p:nvSpPr>
            <p:cNvPr id="31" name="Freeform 31"/>
            <p:cNvSpPr/>
            <p:nvPr/>
          </p:nvSpPr>
          <p:spPr>
            <a:xfrm>
              <a:off x="16891" y="16891"/>
              <a:ext cx="7680960" cy="1901952"/>
            </a:xfrm>
            <a:custGeom>
              <a:avLst/>
              <a:gdLst/>
              <a:ahLst/>
              <a:cxnLst/>
              <a:rect l="l" t="t" r="r" b="b"/>
              <a:pathLst>
                <a:path w="7680960" h="1901952">
                  <a:moveTo>
                    <a:pt x="0" y="0"/>
                  </a:moveTo>
                  <a:lnTo>
                    <a:pt x="7680960" y="0"/>
                  </a:lnTo>
                  <a:lnTo>
                    <a:pt x="76809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7714742" cy="1935734"/>
            </a:xfrm>
            <a:custGeom>
              <a:avLst/>
              <a:gdLst/>
              <a:ahLst/>
              <a:cxnLst/>
              <a:rect l="l" t="t" r="r" b="b"/>
              <a:pathLst>
                <a:path w="7714742" h="1935734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1918843"/>
                  </a:lnTo>
                  <a:cubicBezTo>
                    <a:pt x="7714742" y="1928241"/>
                    <a:pt x="7707122" y="1935734"/>
                    <a:pt x="76978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7697851" y="1901952"/>
                  </a:lnTo>
                  <a:lnTo>
                    <a:pt x="7697851" y="1918843"/>
                  </a:lnTo>
                  <a:lnTo>
                    <a:pt x="7680960" y="1918843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48823" y="4138679"/>
            <a:ext cx="153419" cy="1451867"/>
            <a:chOff x="0" y="0"/>
            <a:chExt cx="204559" cy="1935823"/>
          </a:xfrm>
        </p:grpSpPr>
        <p:sp>
          <p:nvSpPr>
            <p:cNvPr id="34" name="Freeform 34"/>
            <p:cNvSpPr/>
            <p:nvPr/>
          </p:nvSpPr>
          <p:spPr>
            <a:xfrm>
              <a:off x="16891" y="16891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204470" cy="1935734"/>
            </a:xfrm>
            <a:custGeom>
              <a:avLst/>
              <a:gdLst/>
              <a:ahLst/>
              <a:cxnLst/>
              <a:rect l="l" t="t" r="r" b="b"/>
              <a:pathLst>
                <a:path w="204470" h="1935734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435840" y="4242816"/>
            <a:ext cx="5303520" cy="402336"/>
            <a:chOff x="0" y="0"/>
            <a:chExt cx="7071360" cy="5364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071360" cy="536448"/>
            </a:xfrm>
            <a:custGeom>
              <a:avLst/>
              <a:gdLst/>
              <a:ahLst/>
              <a:cxnLst/>
              <a:rect l="l" t="t" r="r" b="b"/>
              <a:pathLst>
                <a:path w="7071360" h="536448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848" b="-20684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 B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435840" y="4608576"/>
            <a:ext cx="5303520" cy="402336"/>
            <a:chOff x="0" y="0"/>
            <a:chExt cx="7071360" cy="53644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071360" cy="536448"/>
            </a:xfrm>
            <a:custGeom>
              <a:avLst/>
              <a:gdLst/>
              <a:ahLst/>
              <a:cxnLst/>
              <a:rect l="l" t="t" r="r" b="b"/>
              <a:pathLst>
                <a:path w="7071360" h="536448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848" b="-20684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7071360" cy="584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Fails at Heavy Rewrite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435840" y="4992624"/>
            <a:ext cx="5303520" cy="512064"/>
            <a:chOff x="0" y="0"/>
            <a:chExt cx="7071360" cy="68275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071360" cy="682752"/>
            </a:xfrm>
            <a:custGeom>
              <a:avLst/>
              <a:gdLst/>
              <a:ahLst/>
              <a:cxnLst/>
              <a:rect l="l" t="t" r="r" b="b"/>
              <a:pathLst>
                <a:path w="7071360" h="682752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809" b="-15180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 &lt; 0.50 at ~65%: heavy rewriting anonymises model identity.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148823" y="5821175"/>
            <a:ext cx="5786123" cy="1451867"/>
            <a:chOff x="0" y="0"/>
            <a:chExt cx="7714831" cy="1935823"/>
          </a:xfrm>
        </p:grpSpPr>
        <p:sp>
          <p:nvSpPr>
            <p:cNvPr id="46" name="Freeform 46"/>
            <p:cNvSpPr/>
            <p:nvPr/>
          </p:nvSpPr>
          <p:spPr>
            <a:xfrm>
              <a:off x="16891" y="16891"/>
              <a:ext cx="7680960" cy="1901952"/>
            </a:xfrm>
            <a:custGeom>
              <a:avLst/>
              <a:gdLst/>
              <a:ahLst/>
              <a:cxnLst/>
              <a:rect l="l" t="t" r="r" b="b"/>
              <a:pathLst>
                <a:path w="7680960" h="1901952">
                  <a:moveTo>
                    <a:pt x="0" y="0"/>
                  </a:moveTo>
                  <a:lnTo>
                    <a:pt x="7680960" y="0"/>
                  </a:lnTo>
                  <a:lnTo>
                    <a:pt x="76809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0" y="0"/>
              <a:ext cx="7714742" cy="1935734"/>
            </a:xfrm>
            <a:custGeom>
              <a:avLst/>
              <a:gdLst/>
              <a:ahLst/>
              <a:cxnLst/>
              <a:rect l="l" t="t" r="r" b="b"/>
              <a:pathLst>
                <a:path w="7714742" h="1935734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1918843"/>
                  </a:lnTo>
                  <a:cubicBezTo>
                    <a:pt x="7714742" y="1928241"/>
                    <a:pt x="7707122" y="1935734"/>
                    <a:pt x="76978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7697851" y="1901952"/>
                  </a:lnTo>
                  <a:lnTo>
                    <a:pt x="7697851" y="1918843"/>
                  </a:lnTo>
                  <a:lnTo>
                    <a:pt x="7680960" y="1918843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148823" y="5821175"/>
            <a:ext cx="153419" cy="1451867"/>
            <a:chOff x="0" y="0"/>
            <a:chExt cx="204559" cy="1935823"/>
          </a:xfrm>
        </p:grpSpPr>
        <p:sp>
          <p:nvSpPr>
            <p:cNvPr id="49" name="Freeform 49"/>
            <p:cNvSpPr/>
            <p:nvPr/>
          </p:nvSpPr>
          <p:spPr>
            <a:xfrm>
              <a:off x="16891" y="16891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0"/>
              <a:ext cx="204470" cy="1935734"/>
            </a:xfrm>
            <a:custGeom>
              <a:avLst/>
              <a:gdLst/>
              <a:ahLst/>
              <a:cxnLst/>
              <a:rect l="l" t="t" r="r" b="b"/>
              <a:pathLst>
                <a:path w="204470" h="1935734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435840" y="5925312"/>
            <a:ext cx="5303520" cy="402336"/>
            <a:chOff x="0" y="0"/>
            <a:chExt cx="7071360" cy="5364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071360" cy="536448"/>
            </a:xfrm>
            <a:custGeom>
              <a:avLst/>
              <a:gdLst/>
              <a:ahLst/>
              <a:cxnLst/>
              <a:rect l="l" t="t" r="r" b="b"/>
              <a:pathLst>
                <a:path w="7071360" h="536448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848" b="-20684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 C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435840" y="6291072"/>
            <a:ext cx="5303520" cy="402336"/>
            <a:chOff x="0" y="0"/>
            <a:chExt cx="7071360" cy="53644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071360" cy="536448"/>
            </a:xfrm>
            <a:custGeom>
              <a:avLst/>
              <a:gdLst/>
              <a:ahLst/>
              <a:cxnLst/>
              <a:rect l="l" t="t" r="r" b="b"/>
              <a:pathLst>
                <a:path w="7071360" h="536448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848" b="-20684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7071360" cy="584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Grok Degrades Differently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435840" y="6675120"/>
            <a:ext cx="5303520" cy="512064"/>
            <a:chOff x="0" y="0"/>
            <a:chExt cx="7071360" cy="68275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071360" cy="682752"/>
            </a:xfrm>
            <a:custGeom>
              <a:avLst/>
              <a:gdLst/>
              <a:ahLst/>
              <a:cxnLst/>
              <a:rect l="l" t="t" r="r" b="b"/>
              <a:pathLst>
                <a:path w="7071360" h="682752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809" b="-15180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Per-model recall shows Grok behaves distinctly — novel either direction.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148823" y="7503671"/>
            <a:ext cx="5786123" cy="1451867"/>
            <a:chOff x="0" y="0"/>
            <a:chExt cx="7714831" cy="1935823"/>
          </a:xfrm>
        </p:grpSpPr>
        <p:sp>
          <p:nvSpPr>
            <p:cNvPr id="61" name="Freeform 61"/>
            <p:cNvSpPr/>
            <p:nvPr/>
          </p:nvSpPr>
          <p:spPr>
            <a:xfrm>
              <a:off x="16891" y="16891"/>
              <a:ext cx="7680960" cy="1901952"/>
            </a:xfrm>
            <a:custGeom>
              <a:avLst/>
              <a:gdLst/>
              <a:ahLst/>
              <a:cxnLst/>
              <a:rect l="l" t="t" r="r" b="b"/>
              <a:pathLst>
                <a:path w="7680960" h="1901952">
                  <a:moveTo>
                    <a:pt x="0" y="0"/>
                  </a:moveTo>
                  <a:lnTo>
                    <a:pt x="7680960" y="0"/>
                  </a:lnTo>
                  <a:lnTo>
                    <a:pt x="76809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0" y="0"/>
              <a:ext cx="7714742" cy="1935734"/>
            </a:xfrm>
            <a:custGeom>
              <a:avLst/>
              <a:gdLst/>
              <a:ahLst/>
              <a:cxnLst/>
              <a:rect l="l" t="t" r="r" b="b"/>
              <a:pathLst>
                <a:path w="7714742" h="1935734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1918843"/>
                  </a:lnTo>
                  <a:cubicBezTo>
                    <a:pt x="7714742" y="1928241"/>
                    <a:pt x="7707122" y="1935734"/>
                    <a:pt x="76978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7697851" y="1901952"/>
                  </a:lnTo>
                  <a:lnTo>
                    <a:pt x="7697851" y="1918843"/>
                  </a:lnTo>
                  <a:lnTo>
                    <a:pt x="7680960" y="1918843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148823" y="7503671"/>
            <a:ext cx="153419" cy="1451867"/>
            <a:chOff x="0" y="0"/>
            <a:chExt cx="204559" cy="1935823"/>
          </a:xfrm>
        </p:grpSpPr>
        <p:sp>
          <p:nvSpPr>
            <p:cNvPr id="64" name="Freeform 64"/>
            <p:cNvSpPr/>
            <p:nvPr/>
          </p:nvSpPr>
          <p:spPr>
            <a:xfrm>
              <a:off x="16891" y="16891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5" name="Freeform 65"/>
            <p:cNvSpPr/>
            <p:nvPr/>
          </p:nvSpPr>
          <p:spPr>
            <a:xfrm>
              <a:off x="0" y="0"/>
              <a:ext cx="204470" cy="1935734"/>
            </a:xfrm>
            <a:custGeom>
              <a:avLst/>
              <a:gdLst/>
              <a:ahLst/>
              <a:cxnLst/>
              <a:rect l="l" t="t" r="r" b="b"/>
              <a:pathLst>
                <a:path w="204470" h="1935734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435840" y="7607808"/>
            <a:ext cx="5303520" cy="402336"/>
            <a:chOff x="0" y="0"/>
            <a:chExt cx="7071360" cy="53644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071360" cy="536448"/>
            </a:xfrm>
            <a:custGeom>
              <a:avLst/>
              <a:gdLst/>
              <a:ahLst/>
              <a:cxnLst/>
              <a:rect l="l" t="t" r="r" b="b"/>
              <a:pathLst>
                <a:path w="7071360" h="536448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848" b="-20684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 D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435840" y="7973568"/>
            <a:ext cx="5303520" cy="402336"/>
            <a:chOff x="0" y="0"/>
            <a:chExt cx="7071360" cy="53644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071360" cy="536448"/>
            </a:xfrm>
            <a:custGeom>
              <a:avLst/>
              <a:gdLst/>
              <a:ahLst/>
              <a:cxnLst/>
              <a:rect l="l" t="t" r="r" b="b"/>
              <a:pathLst>
                <a:path w="7071360" h="536448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848" b="-206848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47625"/>
              <a:ext cx="7071360" cy="584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Null Result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435840" y="8357616"/>
            <a:ext cx="5303520" cy="512064"/>
            <a:chOff x="0" y="0"/>
            <a:chExt cx="7071360" cy="68275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071360" cy="682752"/>
            </a:xfrm>
            <a:custGeom>
              <a:avLst/>
              <a:gdLst/>
              <a:ahLst/>
              <a:cxnLst/>
              <a:rect l="l" t="t" r="r" b="b"/>
              <a:pathLst>
                <a:path w="7071360" h="682752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809" b="-15180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models degrade equally — itself a valid, publishable finding.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SHAP Feature Survival Analysis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interpretability levels — named stylometric features vs aggregate PCA semantic signal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48640" y="1243584"/>
            <a:ext cx="13167360" cy="86868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11874503" y="2456183"/>
            <a:ext cx="6060443" cy="2311403"/>
            <a:chOff x="0" y="0"/>
            <a:chExt cx="8080591" cy="3081871"/>
          </a:xfrm>
        </p:grpSpPr>
        <p:sp>
          <p:nvSpPr>
            <p:cNvPr id="16" name="Freeform 16"/>
            <p:cNvSpPr/>
            <p:nvPr/>
          </p:nvSpPr>
          <p:spPr>
            <a:xfrm>
              <a:off x="16891" y="16891"/>
              <a:ext cx="8046720" cy="3048000"/>
            </a:xfrm>
            <a:custGeom>
              <a:avLst/>
              <a:gdLst/>
              <a:ahLst/>
              <a:cxnLst/>
              <a:rect l="l" t="t" r="r" b="b"/>
              <a:pathLst>
                <a:path w="8046720" h="3048000">
                  <a:moveTo>
                    <a:pt x="0" y="0"/>
                  </a:moveTo>
                  <a:lnTo>
                    <a:pt x="8046720" y="0"/>
                  </a:lnTo>
                  <a:lnTo>
                    <a:pt x="804672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8080501" cy="3081782"/>
            </a:xfrm>
            <a:custGeom>
              <a:avLst/>
              <a:gdLst/>
              <a:ahLst/>
              <a:cxnLst/>
              <a:rect l="l" t="t" r="r" b="b"/>
              <a:pathLst>
                <a:path w="8080501" h="3081782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3064891"/>
                  </a:lnTo>
                  <a:cubicBezTo>
                    <a:pt x="8080501" y="3074289"/>
                    <a:pt x="8072882" y="3081782"/>
                    <a:pt x="806361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8063611" y="3048000"/>
                  </a:lnTo>
                  <a:lnTo>
                    <a:pt x="8063611" y="3064891"/>
                  </a:lnTo>
                  <a:lnTo>
                    <a:pt x="8046720" y="3064891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74503" y="2456183"/>
            <a:ext cx="153419" cy="2311403"/>
            <a:chOff x="0" y="0"/>
            <a:chExt cx="204559" cy="3081871"/>
          </a:xfrm>
        </p:grpSpPr>
        <p:sp>
          <p:nvSpPr>
            <p:cNvPr id="19" name="Freeform 19"/>
            <p:cNvSpPr/>
            <p:nvPr/>
          </p:nvSpPr>
          <p:spPr>
            <a:xfrm>
              <a:off x="16891" y="16891"/>
              <a:ext cx="170688" cy="3048000"/>
            </a:xfrm>
            <a:custGeom>
              <a:avLst/>
              <a:gdLst/>
              <a:ahLst/>
              <a:cxnLst/>
              <a:rect l="l" t="t" r="r" b="b"/>
              <a:pathLst>
                <a:path w="170688" h="3048000">
                  <a:moveTo>
                    <a:pt x="0" y="0"/>
                  </a:moveTo>
                  <a:lnTo>
                    <a:pt x="170688" y="0"/>
                  </a:lnTo>
                  <a:lnTo>
                    <a:pt x="170688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04470" cy="3081782"/>
            </a:xfrm>
            <a:custGeom>
              <a:avLst/>
              <a:gdLst/>
              <a:ahLst/>
              <a:cxnLst/>
              <a:rect l="l" t="t" r="r" b="b"/>
              <a:pathLst>
                <a:path w="204470" h="30817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064891"/>
                  </a:lnTo>
                  <a:cubicBezTo>
                    <a:pt x="204470" y="3074289"/>
                    <a:pt x="196850" y="3081782"/>
                    <a:pt x="187579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187579" y="3048000"/>
                  </a:lnTo>
                  <a:lnTo>
                    <a:pt x="187579" y="3064891"/>
                  </a:lnTo>
                  <a:lnTo>
                    <a:pt x="170688" y="30648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61520" y="2615184"/>
            <a:ext cx="5577840" cy="585216"/>
            <a:chOff x="0" y="0"/>
            <a:chExt cx="7437120" cy="7802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37120" cy="780288"/>
            </a:xfrm>
            <a:custGeom>
              <a:avLst/>
              <a:gdLst/>
              <a:ahLst/>
              <a:cxnLst/>
              <a:rect l="l" t="t" r="r" b="b"/>
              <a:pathLst>
                <a:path w="7437120" h="780288">
                  <a:moveTo>
                    <a:pt x="0" y="0"/>
                  </a:moveTo>
                  <a:lnTo>
                    <a:pt x="7437120" y="0"/>
                  </a:lnTo>
                  <a:lnTo>
                    <a:pt x="743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716" b="-13571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4371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 Stylometric Features (Interpretable)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161520" y="3236976"/>
            <a:ext cx="5577840" cy="1371600"/>
            <a:chOff x="0" y="0"/>
            <a:chExt cx="7437120" cy="1828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437120" cy="1828800"/>
            </a:xfrm>
            <a:custGeom>
              <a:avLst/>
              <a:gdLst/>
              <a:ahLst/>
              <a:cxnLst/>
              <a:rect l="l" t="t" r="r" b="b"/>
              <a:pathLst>
                <a:path w="7437120" h="1828800">
                  <a:moveTo>
                    <a:pt x="0" y="0"/>
                  </a:moveTo>
                  <a:lnTo>
                    <a:pt x="7437120" y="0"/>
                  </a:lnTo>
                  <a:lnTo>
                    <a:pt x="7437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39" b="-2923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43712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SHAP values reported per named feature.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Granular design guidance for future tools: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Edit-resistant features → weight more heavily.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74503" y="5016503"/>
            <a:ext cx="6060443" cy="2311403"/>
            <a:chOff x="0" y="0"/>
            <a:chExt cx="8080591" cy="3081871"/>
          </a:xfrm>
        </p:grpSpPr>
        <p:sp>
          <p:nvSpPr>
            <p:cNvPr id="28" name="Freeform 28"/>
            <p:cNvSpPr/>
            <p:nvPr/>
          </p:nvSpPr>
          <p:spPr>
            <a:xfrm>
              <a:off x="16891" y="16891"/>
              <a:ext cx="8046720" cy="3048000"/>
            </a:xfrm>
            <a:custGeom>
              <a:avLst/>
              <a:gdLst/>
              <a:ahLst/>
              <a:cxnLst/>
              <a:rect l="l" t="t" r="r" b="b"/>
              <a:pathLst>
                <a:path w="8046720" h="3048000">
                  <a:moveTo>
                    <a:pt x="0" y="0"/>
                  </a:moveTo>
                  <a:lnTo>
                    <a:pt x="8046720" y="0"/>
                  </a:lnTo>
                  <a:lnTo>
                    <a:pt x="804672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8080501" cy="3081782"/>
            </a:xfrm>
            <a:custGeom>
              <a:avLst/>
              <a:gdLst/>
              <a:ahLst/>
              <a:cxnLst/>
              <a:rect l="l" t="t" r="r" b="b"/>
              <a:pathLst>
                <a:path w="8080501" h="3081782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3064891"/>
                  </a:lnTo>
                  <a:cubicBezTo>
                    <a:pt x="8080501" y="3074289"/>
                    <a:pt x="8072882" y="3081782"/>
                    <a:pt x="806361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8063611" y="3048000"/>
                  </a:lnTo>
                  <a:lnTo>
                    <a:pt x="8063611" y="3064891"/>
                  </a:lnTo>
                  <a:lnTo>
                    <a:pt x="8046720" y="3064891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874503" y="5016503"/>
            <a:ext cx="153419" cy="2311403"/>
            <a:chOff x="0" y="0"/>
            <a:chExt cx="204559" cy="3081871"/>
          </a:xfrm>
        </p:grpSpPr>
        <p:sp>
          <p:nvSpPr>
            <p:cNvPr id="31" name="Freeform 31"/>
            <p:cNvSpPr/>
            <p:nvPr/>
          </p:nvSpPr>
          <p:spPr>
            <a:xfrm>
              <a:off x="16891" y="16891"/>
              <a:ext cx="170688" cy="3048000"/>
            </a:xfrm>
            <a:custGeom>
              <a:avLst/>
              <a:gdLst/>
              <a:ahLst/>
              <a:cxnLst/>
              <a:rect l="l" t="t" r="r" b="b"/>
              <a:pathLst>
                <a:path w="170688" h="3048000">
                  <a:moveTo>
                    <a:pt x="0" y="0"/>
                  </a:moveTo>
                  <a:lnTo>
                    <a:pt x="170688" y="0"/>
                  </a:lnTo>
                  <a:lnTo>
                    <a:pt x="170688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204470" cy="3081782"/>
            </a:xfrm>
            <a:custGeom>
              <a:avLst/>
              <a:gdLst/>
              <a:ahLst/>
              <a:cxnLst/>
              <a:rect l="l" t="t" r="r" b="b"/>
              <a:pathLst>
                <a:path w="204470" h="30817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064891"/>
                  </a:lnTo>
                  <a:cubicBezTo>
                    <a:pt x="204470" y="3074289"/>
                    <a:pt x="196850" y="3081782"/>
                    <a:pt x="187579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187579" y="3048000"/>
                  </a:lnTo>
                  <a:lnTo>
                    <a:pt x="187579" y="3064891"/>
                  </a:lnTo>
                  <a:lnTo>
                    <a:pt x="170688" y="30648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61520" y="5175504"/>
            <a:ext cx="5577840" cy="585216"/>
            <a:chOff x="0" y="0"/>
            <a:chExt cx="7437120" cy="78028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437120" cy="780288"/>
            </a:xfrm>
            <a:custGeom>
              <a:avLst/>
              <a:gdLst/>
              <a:ahLst/>
              <a:cxnLst/>
              <a:rect l="l" t="t" r="r" b="b"/>
              <a:pathLst>
                <a:path w="7437120" h="780288">
                  <a:moveTo>
                    <a:pt x="0" y="0"/>
                  </a:moveTo>
                  <a:lnTo>
                    <a:pt x="7437120" y="0"/>
                  </a:lnTo>
                  <a:lnTo>
                    <a:pt x="743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716" b="-13571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74371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PCA Semantic (Aggregate only)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61520" y="5797296"/>
            <a:ext cx="5577840" cy="1371600"/>
            <a:chOff x="0" y="0"/>
            <a:chExt cx="7437120" cy="1828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437120" cy="1828800"/>
            </a:xfrm>
            <a:custGeom>
              <a:avLst/>
              <a:gdLst/>
              <a:ahLst/>
              <a:cxnLst/>
              <a:rect l="l" t="t" r="r" b="b"/>
              <a:pathLst>
                <a:path w="7437120" h="1828800">
                  <a:moveTo>
                    <a:pt x="0" y="0"/>
                  </a:moveTo>
                  <a:lnTo>
                    <a:pt x="7437120" y="0"/>
                  </a:lnTo>
                  <a:lnTo>
                    <a:pt x="7437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39" b="-2923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743712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PCA components = linear combos of 384 dims.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interpreted individually.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aggregate importance reported.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874503" y="7576823"/>
            <a:ext cx="6060443" cy="2311403"/>
            <a:chOff x="0" y="0"/>
            <a:chExt cx="8080591" cy="3081871"/>
          </a:xfrm>
        </p:grpSpPr>
        <p:sp>
          <p:nvSpPr>
            <p:cNvPr id="40" name="Freeform 40"/>
            <p:cNvSpPr/>
            <p:nvPr/>
          </p:nvSpPr>
          <p:spPr>
            <a:xfrm>
              <a:off x="16891" y="16891"/>
              <a:ext cx="8046720" cy="3048000"/>
            </a:xfrm>
            <a:custGeom>
              <a:avLst/>
              <a:gdLst/>
              <a:ahLst/>
              <a:cxnLst/>
              <a:rect l="l" t="t" r="r" b="b"/>
              <a:pathLst>
                <a:path w="8046720" h="3048000">
                  <a:moveTo>
                    <a:pt x="0" y="0"/>
                  </a:moveTo>
                  <a:lnTo>
                    <a:pt x="8046720" y="0"/>
                  </a:lnTo>
                  <a:lnTo>
                    <a:pt x="804672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0"/>
              <a:ext cx="8080501" cy="3081782"/>
            </a:xfrm>
            <a:custGeom>
              <a:avLst/>
              <a:gdLst/>
              <a:ahLst/>
              <a:cxnLst/>
              <a:rect l="l" t="t" r="r" b="b"/>
              <a:pathLst>
                <a:path w="8080501" h="3081782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3064891"/>
                  </a:lnTo>
                  <a:cubicBezTo>
                    <a:pt x="8080501" y="3074289"/>
                    <a:pt x="8072882" y="3081782"/>
                    <a:pt x="806361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8063611" y="3048000"/>
                  </a:lnTo>
                  <a:lnTo>
                    <a:pt x="8063611" y="3064891"/>
                  </a:lnTo>
                  <a:lnTo>
                    <a:pt x="8046720" y="3064891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874503" y="7576823"/>
            <a:ext cx="153419" cy="2311403"/>
            <a:chOff x="0" y="0"/>
            <a:chExt cx="204559" cy="3081871"/>
          </a:xfrm>
        </p:grpSpPr>
        <p:sp>
          <p:nvSpPr>
            <p:cNvPr id="43" name="Freeform 43"/>
            <p:cNvSpPr/>
            <p:nvPr/>
          </p:nvSpPr>
          <p:spPr>
            <a:xfrm>
              <a:off x="16891" y="16891"/>
              <a:ext cx="170688" cy="3048000"/>
            </a:xfrm>
            <a:custGeom>
              <a:avLst/>
              <a:gdLst/>
              <a:ahLst/>
              <a:cxnLst/>
              <a:rect l="l" t="t" r="r" b="b"/>
              <a:pathLst>
                <a:path w="170688" h="3048000">
                  <a:moveTo>
                    <a:pt x="0" y="0"/>
                  </a:moveTo>
                  <a:lnTo>
                    <a:pt x="170688" y="0"/>
                  </a:lnTo>
                  <a:lnTo>
                    <a:pt x="170688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0"/>
              <a:ext cx="204470" cy="3081782"/>
            </a:xfrm>
            <a:custGeom>
              <a:avLst/>
              <a:gdLst/>
              <a:ahLst/>
              <a:cxnLst/>
              <a:rect l="l" t="t" r="r" b="b"/>
              <a:pathLst>
                <a:path w="204470" h="30817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064891"/>
                  </a:lnTo>
                  <a:cubicBezTo>
                    <a:pt x="204470" y="3074289"/>
                    <a:pt x="196850" y="3081782"/>
                    <a:pt x="187579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187579" y="3048000"/>
                  </a:lnTo>
                  <a:lnTo>
                    <a:pt x="187579" y="3064891"/>
                  </a:lnTo>
                  <a:lnTo>
                    <a:pt x="170688" y="30648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161520" y="7735824"/>
            <a:ext cx="5577840" cy="585216"/>
            <a:chOff x="0" y="0"/>
            <a:chExt cx="7437120" cy="78028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437120" cy="780288"/>
            </a:xfrm>
            <a:custGeom>
              <a:avLst/>
              <a:gdLst/>
              <a:ahLst/>
              <a:cxnLst/>
              <a:rect l="l" t="t" r="r" b="b"/>
              <a:pathLst>
                <a:path w="7437120" h="780288">
                  <a:moveTo>
                    <a:pt x="0" y="0"/>
                  </a:moveTo>
                  <a:lnTo>
                    <a:pt x="7437120" y="0"/>
                  </a:lnTo>
                  <a:lnTo>
                    <a:pt x="743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716" b="-13571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74371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Practical Outcome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161520" y="8357616"/>
            <a:ext cx="5577840" cy="1371600"/>
            <a:chOff x="0" y="0"/>
            <a:chExt cx="7437120" cy="1828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437120" cy="1828800"/>
            </a:xfrm>
            <a:custGeom>
              <a:avLst/>
              <a:gdLst/>
              <a:ahLst/>
              <a:cxnLst/>
              <a:rect l="l" t="t" r="r" b="b"/>
              <a:pathLst>
                <a:path w="7437120" h="1828800">
                  <a:moveTo>
                    <a:pt x="0" y="0"/>
                  </a:moveTo>
                  <a:lnTo>
                    <a:pt x="7437120" y="0"/>
                  </a:lnTo>
                  <a:lnTo>
                    <a:pt x="7437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39" b="-2923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743712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Future attribution tools should prioritise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whichever stylometric features are most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edit-resistant per SHAP survival curves.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48640" y="9107424"/>
            <a:ext cx="17190720" cy="548640"/>
            <a:chOff x="0" y="0"/>
            <a:chExt cx="2292096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F973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📌 REPLACE with actual SHAP values from TreeExplainer after analysis. Chart above is illustrative only.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310896"/>
            <a:ext cx="16459200" cy="1188720"/>
            <a:chOff x="0" y="0"/>
            <a:chExt cx="21945600" cy="1584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Novel Contributions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2697" y="1816103"/>
            <a:ext cx="18313403" cy="153419"/>
            <a:chOff x="0" y="0"/>
            <a:chExt cx="24417871" cy="20455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5943" y="2273303"/>
            <a:ext cx="5511803" cy="3500123"/>
            <a:chOff x="0" y="0"/>
            <a:chExt cx="7349071" cy="466683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A2745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3A5E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5399" y="2492759"/>
            <a:ext cx="1342139" cy="537467"/>
            <a:chOff x="0" y="0"/>
            <a:chExt cx="1789519" cy="716623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789430" cy="716536"/>
            </a:xfrm>
            <a:custGeom>
              <a:avLst/>
              <a:gdLst/>
              <a:ahLst/>
              <a:cxnLst/>
              <a:rect l="l" t="t" r="r" b="b"/>
              <a:pathLst>
                <a:path w="1789430" h="716536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699643"/>
                  </a:lnTo>
                  <a:cubicBezTo>
                    <a:pt x="1789430" y="709041"/>
                    <a:pt x="1781810" y="716534"/>
                    <a:pt x="177253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772539" y="682752"/>
                  </a:lnTo>
                  <a:lnTo>
                    <a:pt x="1772539" y="699643"/>
                  </a:lnTo>
                  <a:lnTo>
                    <a:pt x="1755648" y="699643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8096" y="2505456"/>
            <a:ext cx="1316736" cy="512064"/>
            <a:chOff x="0" y="0"/>
            <a:chExt cx="1755648" cy="6827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755648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1A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FIRST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8096" y="3163824"/>
            <a:ext cx="5047488" cy="694944"/>
            <a:chOff x="0" y="0"/>
            <a:chExt cx="6729984" cy="926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29984" cy="926592"/>
            </a:xfrm>
            <a:custGeom>
              <a:avLst/>
              <a:gdLst/>
              <a:ahLst/>
              <a:cxnLst/>
              <a:rect l="l" t="t" r="r" b="b"/>
              <a:pathLst>
                <a:path w="6729984" h="926592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522" b="-9152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729984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First Study Including Grok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8096" y="3840480"/>
            <a:ext cx="5047488" cy="1737360"/>
            <a:chOff x="0" y="0"/>
            <a:chExt cx="6729984" cy="23164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729984" cy="2316480"/>
            </a:xfrm>
            <a:custGeom>
              <a:avLst/>
              <a:gdLst/>
              <a:ahLst/>
              <a:cxnLst/>
              <a:rect l="l" t="t" r="r" b="b"/>
              <a:pathLst>
                <a:path w="6729984" h="2316480">
                  <a:moveTo>
                    <a:pt x="0" y="0"/>
                  </a:moveTo>
                  <a:lnTo>
                    <a:pt x="6729984" y="0"/>
                  </a:lnTo>
                  <a:lnTo>
                    <a:pt x="672998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09" b="-660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729984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existing benchmark excludes Grok. First inter-model attribution evaluation across all four major commercial LLMs.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51527" y="2273303"/>
            <a:ext cx="5511803" cy="3500123"/>
            <a:chOff x="0" y="0"/>
            <a:chExt cx="7349071" cy="466683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A2745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3A5E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570983" y="2492759"/>
            <a:ext cx="1342139" cy="537467"/>
            <a:chOff x="0" y="0"/>
            <a:chExt cx="1789519" cy="71662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1789430" cy="716536"/>
            </a:xfrm>
            <a:custGeom>
              <a:avLst/>
              <a:gdLst/>
              <a:ahLst/>
              <a:cxnLst/>
              <a:rect l="l" t="t" r="r" b="b"/>
              <a:pathLst>
                <a:path w="1789430" h="716536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699643"/>
                  </a:lnTo>
                  <a:cubicBezTo>
                    <a:pt x="1789430" y="709041"/>
                    <a:pt x="1781810" y="716534"/>
                    <a:pt x="177253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772539" y="682752"/>
                  </a:lnTo>
                  <a:lnTo>
                    <a:pt x="1772539" y="699643"/>
                  </a:lnTo>
                  <a:lnTo>
                    <a:pt x="1755648" y="699643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83680" y="2505456"/>
            <a:ext cx="1316736" cy="512064"/>
            <a:chOff x="0" y="0"/>
            <a:chExt cx="1755648" cy="6827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755648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1A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FIRST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83680" y="3163824"/>
            <a:ext cx="5047488" cy="694944"/>
            <a:chOff x="0" y="0"/>
            <a:chExt cx="6729984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729984" cy="926592"/>
            </a:xfrm>
            <a:custGeom>
              <a:avLst/>
              <a:gdLst/>
              <a:ahLst/>
              <a:cxnLst/>
              <a:rect l="l" t="t" r="r" b="b"/>
              <a:pathLst>
                <a:path w="6729984" h="926592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522" b="-9152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6729984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First Attribution Degradation Study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583680" y="3840480"/>
            <a:ext cx="5047488" cy="1737360"/>
            <a:chOff x="0" y="0"/>
            <a:chExt cx="6729984" cy="23164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729984" cy="2316480"/>
            </a:xfrm>
            <a:custGeom>
              <a:avLst/>
              <a:gdLst/>
              <a:ahLst/>
              <a:cxnLst/>
              <a:rect l="l" t="t" r="r" b="b"/>
              <a:pathLst>
                <a:path w="6729984" h="2316480">
                  <a:moveTo>
                    <a:pt x="0" y="0"/>
                  </a:moveTo>
                  <a:lnTo>
                    <a:pt x="6729984" y="0"/>
                  </a:lnTo>
                  <a:lnTo>
                    <a:pt x="672998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09" b="-660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6729984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 work measures detection degradation only. First measurement of inter-model attribution degradation under LLM-based rewriting.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167111" y="2273303"/>
            <a:ext cx="5511803" cy="3500123"/>
            <a:chOff x="0" y="0"/>
            <a:chExt cx="7349071" cy="466683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A2745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3A5E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386567" y="2492759"/>
            <a:ext cx="1342139" cy="537467"/>
            <a:chOff x="0" y="0"/>
            <a:chExt cx="1789519" cy="716623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1789430" cy="716536"/>
            </a:xfrm>
            <a:custGeom>
              <a:avLst/>
              <a:gdLst/>
              <a:ahLst/>
              <a:cxnLst/>
              <a:rect l="l" t="t" r="r" b="b"/>
              <a:pathLst>
                <a:path w="1789430" h="716536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699643"/>
                  </a:lnTo>
                  <a:cubicBezTo>
                    <a:pt x="1789430" y="709041"/>
                    <a:pt x="1781810" y="716534"/>
                    <a:pt x="177253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772539" y="682752"/>
                  </a:lnTo>
                  <a:lnTo>
                    <a:pt x="1772539" y="699643"/>
                  </a:lnTo>
                  <a:lnTo>
                    <a:pt x="1755648" y="699643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399264" y="2505456"/>
            <a:ext cx="1316736" cy="512064"/>
            <a:chOff x="0" y="0"/>
            <a:chExt cx="1755648" cy="68275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755648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1A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399264" y="3163824"/>
            <a:ext cx="5047488" cy="694944"/>
            <a:chOff x="0" y="0"/>
            <a:chExt cx="6729984" cy="9265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729984" cy="926592"/>
            </a:xfrm>
            <a:custGeom>
              <a:avLst/>
              <a:gdLst/>
              <a:ahLst/>
              <a:cxnLst/>
              <a:rect l="l" t="t" r="r" b="b"/>
              <a:pathLst>
                <a:path w="6729984" h="926592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522" b="-9152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6729984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Empirical Dual-Metric Quality Gate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399264" y="3840480"/>
            <a:ext cx="5047488" cy="1737360"/>
            <a:chOff x="0" y="0"/>
            <a:chExt cx="6729984" cy="23164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729984" cy="2316480"/>
            </a:xfrm>
            <a:custGeom>
              <a:avLst/>
              <a:gdLst/>
              <a:ahLst/>
              <a:cxnLst/>
              <a:rect l="l" t="t" r="r" b="b"/>
              <a:pathLst>
                <a:path w="6729984" h="2316480">
                  <a:moveTo>
                    <a:pt x="0" y="0"/>
                  </a:moveTo>
                  <a:lnTo>
                    <a:pt x="6729984" y="0"/>
                  </a:lnTo>
                  <a:lnTo>
                    <a:pt x="672998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09" b="-660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6729984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Pilot-validated Levenshtein + cosine gate. Calibration refinement with target model outputs planned Month 1.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35943" y="6113783"/>
            <a:ext cx="5511803" cy="3500123"/>
            <a:chOff x="0" y="0"/>
            <a:chExt cx="7349071" cy="4666831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A2745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3A5E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55399" y="6333239"/>
            <a:ext cx="1342139" cy="537467"/>
            <a:chOff x="0" y="0"/>
            <a:chExt cx="1789519" cy="716623"/>
          </a:xfrm>
        </p:grpSpPr>
        <p:sp>
          <p:nvSpPr>
            <p:cNvPr id="60" name="Freeform 60"/>
            <p:cNvSpPr/>
            <p:nvPr/>
          </p:nvSpPr>
          <p:spPr>
            <a:xfrm>
              <a:off x="16891" y="16891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0" y="0"/>
              <a:ext cx="1789430" cy="716536"/>
            </a:xfrm>
            <a:custGeom>
              <a:avLst/>
              <a:gdLst/>
              <a:ahLst/>
              <a:cxnLst/>
              <a:rect l="l" t="t" r="r" b="b"/>
              <a:pathLst>
                <a:path w="1789430" h="716536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699643"/>
                  </a:lnTo>
                  <a:cubicBezTo>
                    <a:pt x="1789430" y="709041"/>
                    <a:pt x="1781810" y="716534"/>
                    <a:pt x="177253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772539" y="682752"/>
                  </a:lnTo>
                  <a:lnTo>
                    <a:pt x="1772539" y="699643"/>
                  </a:lnTo>
                  <a:lnTo>
                    <a:pt x="1755648" y="699643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68096" y="6345936"/>
            <a:ext cx="1316736" cy="512064"/>
            <a:chOff x="0" y="0"/>
            <a:chExt cx="1755648" cy="68275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1755648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1A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8096" y="7004304"/>
            <a:ext cx="5047488" cy="694944"/>
            <a:chOff x="0" y="0"/>
            <a:chExt cx="6729984" cy="92659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729984" cy="926592"/>
            </a:xfrm>
            <a:custGeom>
              <a:avLst/>
              <a:gdLst/>
              <a:ahLst/>
              <a:cxnLst/>
              <a:rect l="l" t="t" r="r" b="b"/>
              <a:pathLst>
                <a:path w="6729984" h="926592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522" b="-9152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6729984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PCA-Corrected Feature Pipeline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8096" y="7680960"/>
            <a:ext cx="5047488" cy="1737360"/>
            <a:chOff x="0" y="0"/>
            <a:chExt cx="6729984" cy="23164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729984" cy="2316480"/>
            </a:xfrm>
            <a:custGeom>
              <a:avLst/>
              <a:gdLst/>
              <a:ahLst/>
              <a:cxnLst/>
              <a:rect l="l" t="t" r="r" b="b"/>
              <a:pathLst>
                <a:path w="6729984" h="2316480">
                  <a:moveTo>
                    <a:pt x="0" y="0"/>
                  </a:moveTo>
                  <a:lnTo>
                    <a:pt x="6729984" y="0"/>
                  </a:lnTo>
                  <a:lnTo>
                    <a:pt x="672998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09" b="-660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6729984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all-MiniLM-L6-v2 replaces RoBERTa [CLS]. PCA → ~83-d vector. Sample ratio 11.6:1 — overfitting risk eliminated.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351527" y="6113783"/>
            <a:ext cx="5511803" cy="3500123"/>
            <a:chOff x="0" y="0"/>
            <a:chExt cx="7349071" cy="4666831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A2745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3" name="Freeform 73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3A5E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570983" y="6333239"/>
            <a:ext cx="1342139" cy="537467"/>
            <a:chOff x="0" y="0"/>
            <a:chExt cx="1789519" cy="716623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6" name="Freeform 76"/>
            <p:cNvSpPr/>
            <p:nvPr/>
          </p:nvSpPr>
          <p:spPr>
            <a:xfrm>
              <a:off x="0" y="0"/>
              <a:ext cx="1789430" cy="716536"/>
            </a:xfrm>
            <a:custGeom>
              <a:avLst/>
              <a:gdLst/>
              <a:ahLst/>
              <a:cxnLst/>
              <a:rect l="l" t="t" r="r" b="b"/>
              <a:pathLst>
                <a:path w="1789430" h="716536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699643"/>
                  </a:lnTo>
                  <a:cubicBezTo>
                    <a:pt x="1789430" y="709041"/>
                    <a:pt x="1781810" y="716534"/>
                    <a:pt x="177253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772539" y="682752"/>
                  </a:lnTo>
                  <a:lnTo>
                    <a:pt x="1772539" y="699643"/>
                  </a:lnTo>
                  <a:lnTo>
                    <a:pt x="1755648" y="699643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583680" y="6345936"/>
            <a:ext cx="1316736" cy="512064"/>
            <a:chOff x="0" y="0"/>
            <a:chExt cx="1755648" cy="68275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1755648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1A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583680" y="7004304"/>
            <a:ext cx="5047488" cy="694944"/>
            <a:chOff x="0" y="0"/>
            <a:chExt cx="6729984" cy="92659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729984" cy="926592"/>
            </a:xfrm>
            <a:custGeom>
              <a:avLst/>
              <a:gdLst/>
              <a:ahLst/>
              <a:cxnLst/>
              <a:rect l="l" t="t" r="r" b="b"/>
              <a:pathLst>
                <a:path w="6729984" h="926592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522" b="-9152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47625"/>
              <a:ext cx="6729984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Two-Level SHAP Survival Analysis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583680" y="7680960"/>
            <a:ext cx="5047488" cy="1737360"/>
            <a:chOff x="0" y="0"/>
            <a:chExt cx="6729984" cy="231648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729984" cy="2316480"/>
            </a:xfrm>
            <a:custGeom>
              <a:avLst/>
              <a:gdLst/>
              <a:ahLst/>
              <a:cxnLst/>
              <a:rect l="l" t="t" r="r" b="b"/>
              <a:pathLst>
                <a:path w="6729984" h="2316480">
                  <a:moveTo>
                    <a:pt x="0" y="0"/>
                  </a:moveTo>
                  <a:lnTo>
                    <a:pt x="6729984" y="0"/>
                  </a:lnTo>
                  <a:lnTo>
                    <a:pt x="672998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09" b="-660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6729984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Granular stylometric guidance + aggregate PCA semantic signal retention. Interpretability scope explicitly maintained.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167111" y="6113783"/>
            <a:ext cx="5511803" cy="3500123"/>
            <a:chOff x="0" y="0"/>
            <a:chExt cx="7349071" cy="4666831"/>
          </a:xfrm>
        </p:grpSpPr>
        <p:sp>
          <p:nvSpPr>
            <p:cNvPr id="87" name="Freeform 87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A2745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8" name="Freeform 88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3A5E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386567" y="6333239"/>
            <a:ext cx="1342139" cy="537467"/>
            <a:chOff x="0" y="0"/>
            <a:chExt cx="1789519" cy="716623"/>
          </a:xfrm>
        </p:grpSpPr>
        <p:sp>
          <p:nvSpPr>
            <p:cNvPr id="90" name="Freeform 90"/>
            <p:cNvSpPr/>
            <p:nvPr/>
          </p:nvSpPr>
          <p:spPr>
            <a:xfrm>
              <a:off x="16891" y="16891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A78BFA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91" name="Freeform 91"/>
            <p:cNvSpPr/>
            <p:nvPr/>
          </p:nvSpPr>
          <p:spPr>
            <a:xfrm>
              <a:off x="0" y="0"/>
              <a:ext cx="1789430" cy="716536"/>
            </a:xfrm>
            <a:custGeom>
              <a:avLst/>
              <a:gdLst/>
              <a:ahLst/>
              <a:cxnLst/>
              <a:rect l="l" t="t" r="r" b="b"/>
              <a:pathLst>
                <a:path w="1789430" h="716536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699643"/>
                  </a:lnTo>
                  <a:cubicBezTo>
                    <a:pt x="1789430" y="709041"/>
                    <a:pt x="1781810" y="716534"/>
                    <a:pt x="177253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772539" y="682752"/>
                  </a:lnTo>
                  <a:lnTo>
                    <a:pt x="1772539" y="699643"/>
                  </a:lnTo>
                  <a:lnTo>
                    <a:pt x="1755648" y="699643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399264" y="6345936"/>
            <a:ext cx="1316736" cy="512064"/>
            <a:chOff x="0" y="0"/>
            <a:chExt cx="1755648" cy="68275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755648" cy="682752"/>
            </a:xfrm>
            <a:custGeom>
              <a:avLst/>
              <a:gdLst/>
              <a:ahLst/>
              <a:cxnLst/>
              <a:rect l="l" t="t" r="r" b="b"/>
              <a:pathLst>
                <a:path w="1755648" h="682752">
                  <a:moveTo>
                    <a:pt x="0" y="0"/>
                  </a:moveTo>
                  <a:lnTo>
                    <a:pt x="1755648" y="0"/>
                  </a:lnTo>
                  <a:lnTo>
                    <a:pt x="17556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1755648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1A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2399264" y="7004304"/>
            <a:ext cx="5047488" cy="694944"/>
            <a:chOff x="0" y="0"/>
            <a:chExt cx="6729984" cy="92659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729984" cy="926592"/>
            </a:xfrm>
            <a:custGeom>
              <a:avLst/>
              <a:gdLst/>
              <a:ahLst/>
              <a:cxnLst/>
              <a:rect l="l" t="t" r="r" b="b"/>
              <a:pathLst>
                <a:path w="6729984" h="926592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522" b="-9152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47625"/>
              <a:ext cx="6729984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Unambiguous Ablation Design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2399264" y="7680960"/>
            <a:ext cx="5047488" cy="1737360"/>
            <a:chOff x="0" y="0"/>
            <a:chExt cx="6729984" cy="231648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6729984" cy="2316480"/>
            </a:xfrm>
            <a:custGeom>
              <a:avLst/>
              <a:gdLst/>
              <a:ahLst/>
              <a:cxnLst/>
              <a:rect l="l" t="t" r="r" b="b"/>
              <a:pathLst>
                <a:path w="6729984" h="2316480">
                  <a:moveTo>
                    <a:pt x="0" y="0"/>
                  </a:moveTo>
                  <a:lnTo>
                    <a:pt x="6729984" y="0"/>
                  </a:lnTo>
                  <a:lnTo>
                    <a:pt x="6729984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09" b="-6609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6729984" cy="2354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constant across feature conditions isolates feature effects from classifier architecture effects cleanly.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24383999" cy="914400"/>
            </a:xfrm>
            <a:custGeom>
              <a:avLst/>
              <a:gdLst/>
              <a:ahLst/>
              <a:cxnLst/>
              <a:rect l="l" t="t" r="r" b="b"/>
              <a:pathLst>
                <a:path w="24383999" h="914400">
                  <a:moveTo>
                    <a:pt x="0" y="0"/>
                  </a:moveTo>
                  <a:lnTo>
                    <a:pt x="24383999" y="914400"/>
                  </a:lnTo>
                </a:path>
              </a:pathLst>
            </a:custGeom>
            <a:solidFill>
              <a:srgbClr val="141A45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3" name="Freeform 103"/>
            <p:cNvSpPr/>
            <p:nvPr/>
          </p:nvSpPr>
          <p:spPr>
            <a:xfrm>
              <a:off x="16256" y="0"/>
              <a:ext cx="24385270" cy="948182"/>
            </a:xfrm>
            <a:custGeom>
              <a:avLst/>
              <a:gdLst/>
              <a:ahLst/>
              <a:cxnLst/>
              <a:rect l="l" t="t" r="r" b="b"/>
              <a:pathLst>
                <a:path w="24385270" h="948182">
                  <a:moveTo>
                    <a:pt x="1270" y="0"/>
                  </a:moveTo>
                  <a:lnTo>
                    <a:pt x="24385270" y="914400"/>
                  </a:lnTo>
                  <a:lnTo>
                    <a:pt x="24384000" y="948182"/>
                  </a:lnTo>
                  <a:lnTo>
                    <a:pt x="0" y="33782"/>
                  </a:lnTo>
                  <a:close/>
                </a:path>
              </a:pathLst>
            </a:custGeom>
            <a:solidFill>
              <a:srgbClr val="141A45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 &amp; Risk Register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risks have documented overcoming strategies — no single point of failure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3" y="2456183"/>
            <a:ext cx="8255003" cy="4048763"/>
            <a:chOff x="0" y="0"/>
            <a:chExt cx="11006671" cy="539835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0972800" cy="5364480"/>
            </a:xfrm>
            <a:custGeom>
              <a:avLst/>
              <a:gdLst/>
              <a:ahLst/>
              <a:cxnLst/>
              <a:rect l="l" t="t" r="r" b="b"/>
              <a:pathLst>
                <a:path w="10972800" h="536448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1006582" cy="5398262"/>
            </a:xfrm>
            <a:custGeom>
              <a:avLst/>
              <a:gdLst/>
              <a:ahLst/>
              <a:cxnLst/>
              <a:rect l="l" t="t" r="r" b="b"/>
              <a:pathLst>
                <a:path w="11006582" h="539826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381371"/>
                  </a:lnTo>
                  <a:cubicBezTo>
                    <a:pt x="11006582" y="5390769"/>
                    <a:pt x="10998962" y="5398262"/>
                    <a:pt x="1098969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10989691" y="5364480"/>
                  </a:lnTo>
                  <a:lnTo>
                    <a:pt x="10989691" y="5381371"/>
                  </a:lnTo>
                  <a:lnTo>
                    <a:pt x="10972800" y="53813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5943" y="2456183"/>
            <a:ext cx="8255003" cy="720347"/>
            <a:chOff x="0" y="0"/>
            <a:chExt cx="11006671" cy="96046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0972800" cy="926592"/>
            </a:xfrm>
            <a:custGeom>
              <a:avLst/>
              <a:gdLst/>
              <a:ahLst/>
              <a:cxnLst/>
              <a:rect l="l" t="t" r="r" b="b"/>
              <a:pathLst>
                <a:path w="10972800" h="926592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11006582" cy="960376"/>
            </a:xfrm>
            <a:custGeom>
              <a:avLst/>
              <a:gdLst/>
              <a:ahLst/>
              <a:cxnLst/>
              <a:rect l="l" t="t" r="r" b="b"/>
              <a:pathLst>
                <a:path w="11006582" h="960376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43483"/>
                  </a:lnTo>
                  <a:cubicBezTo>
                    <a:pt x="11006582" y="952881"/>
                    <a:pt x="10998962" y="960374"/>
                    <a:pt x="10989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989691" y="926592"/>
                  </a:lnTo>
                  <a:lnTo>
                    <a:pt x="10989691" y="943483"/>
                  </a:lnTo>
                  <a:lnTo>
                    <a:pt x="10972800" y="9434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1520" y="2523744"/>
            <a:ext cx="7863840" cy="548640"/>
            <a:chOff x="0" y="0"/>
            <a:chExt cx="1048512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485120" cy="731520"/>
            </a:xfrm>
            <a:custGeom>
              <a:avLst/>
              <a:gdLst/>
              <a:ahLst/>
              <a:cxnLst/>
              <a:rect l="l" t="t" r="r" b="b"/>
              <a:pathLst>
                <a:path w="10485120" h="7315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9285" b="-22928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4851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&amp; Tools  |  Total Cost: ~$0.15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8096" y="3328416"/>
            <a:ext cx="7772400" cy="512064"/>
            <a:chOff x="0" y="0"/>
            <a:chExt cx="10363200" cy="6827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363200" cy="682752"/>
            </a:xfrm>
            <a:custGeom>
              <a:avLst/>
              <a:gdLst/>
              <a:ahLst/>
              <a:cxnLst/>
              <a:rect l="l" t="t" r="r" b="b"/>
              <a:pathLst>
                <a:path w="10363200" h="682752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755" b="-24575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3632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20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GB GPU — all-MiniLM-L6-v2 extraction (~30 min, 80MB model)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8096" y="3913632"/>
            <a:ext cx="7772400" cy="512064"/>
            <a:chOff x="0" y="0"/>
            <a:chExt cx="10363200" cy="68275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363200" cy="682752"/>
            </a:xfrm>
            <a:custGeom>
              <a:avLst/>
              <a:gdLst/>
              <a:ahLst/>
              <a:cxnLst/>
              <a:rect l="l" t="t" r="r" b="b"/>
              <a:pathLst>
                <a:path w="10363200" h="682752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755" b="-24575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3632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20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 GB RAM — all CPU ops, training, SHAP, PCA, ablation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8096" y="4498848"/>
            <a:ext cx="7772400" cy="512064"/>
            <a:chOff x="0" y="0"/>
            <a:chExt cx="10363200" cy="6827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3200" cy="682752"/>
            </a:xfrm>
            <a:custGeom>
              <a:avLst/>
              <a:gdLst/>
              <a:ahLst/>
              <a:cxnLst/>
              <a:rect l="l" t="t" r="r" b="b"/>
              <a:pathLst>
                <a:path w="10363200" h="682752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755" b="-24575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03632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20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Groq API (free) — Llama 3.3 70B rewriting (2,400 samples)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8096" y="5084064"/>
            <a:ext cx="7772400" cy="512064"/>
            <a:chOff x="0" y="0"/>
            <a:chExt cx="10363200" cy="6827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363200" cy="682752"/>
            </a:xfrm>
            <a:custGeom>
              <a:avLst/>
              <a:gdLst/>
              <a:ahLst/>
              <a:cxnLst/>
              <a:rect l="l" t="t" r="r" b="b"/>
              <a:pathLst>
                <a:path w="10363200" h="682752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755" b="-24575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3632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20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xAI API ($0.15) — 300 Grok samples collected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8096" y="5669280"/>
            <a:ext cx="7772400" cy="512064"/>
            <a:chOff x="0" y="0"/>
            <a:chExt cx="10363200" cy="6827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363200" cy="682752"/>
            </a:xfrm>
            <a:custGeom>
              <a:avLst/>
              <a:gdLst/>
              <a:ahLst/>
              <a:cxnLst/>
              <a:rect l="l" t="t" r="r" b="b"/>
              <a:pathLst>
                <a:path w="10363200" h="682752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755" b="-24575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3632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</a:t>
              </a:r>
              <a:r>
                <a:rPr lang="en-US" sz="20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scikit-learn, XGBoost, SHAP, spaCy — all free &amp; open source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5943" y="6662423"/>
            <a:ext cx="8255003" cy="2805179"/>
            <a:chOff x="0" y="0"/>
            <a:chExt cx="11006671" cy="3740239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10972800" cy="3706368"/>
            </a:xfrm>
            <a:custGeom>
              <a:avLst/>
              <a:gdLst/>
              <a:ahLst/>
              <a:cxnLst/>
              <a:rect l="l" t="t" r="r" b="b"/>
              <a:pathLst>
                <a:path w="10972800" h="3706368">
                  <a:moveTo>
                    <a:pt x="0" y="0"/>
                  </a:moveTo>
                  <a:lnTo>
                    <a:pt x="10972800" y="0"/>
                  </a:lnTo>
                  <a:lnTo>
                    <a:pt x="10972800" y="3706368"/>
                  </a:lnTo>
                  <a:lnTo>
                    <a:pt x="0" y="3706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11006582" cy="3740150"/>
            </a:xfrm>
            <a:custGeom>
              <a:avLst/>
              <a:gdLst/>
              <a:ahLst/>
              <a:cxnLst/>
              <a:rect l="l" t="t" r="r" b="b"/>
              <a:pathLst>
                <a:path w="11006582" h="374015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723259"/>
                  </a:lnTo>
                  <a:cubicBezTo>
                    <a:pt x="11006582" y="3732657"/>
                    <a:pt x="10998962" y="3740150"/>
                    <a:pt x="10989691" y="3740150"/>
                  </a:cubicBezTo>
                  <a:lnTo>
                    <a:pt x="16891" y="3740150"/>
                  </a:lnTo>
                  <a:cubicBezTo>
                    <a:pt x="7493" y="3740150"/>
                    <a:pt x="0" y="3732530"/>
                    <a:pt x="0" y="37232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23259"/>
                  </a:lnTo>
                  <a:lnTo>
                    <a:pt x="16891" y="3723259"/>
                  </a:lnTo>
                  <a:lnTo>
                    <a:pt x="16891" y="3706368"/>
                  </a:lnTo>
                  <a:lnTo>
                    <a:pt x="10989691" y="3706368"/>
                  </a:lnTo>
                  <a:lnTo>
                    <a:pt x="10989691" y="3723259"/>
                  </a:lnTo>
                  <a:lnTo>
                    <a:pt x="10972800" y="372325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5943" y="6662423"/>
            <a:ext cx="8255003" cy="665483"/>
            <a:chOff x="0" y="0"/>
            <a:chExt cx="11006671" cy="88731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10972800" cy="853440"/>
            </a:xfrm>
            <a:custGeom>
              <a:avLst/>
              <a:gdLst/>
              <a:ahLst/>
              <a:cxnLst/>
              <a:rect l="l" t="t" r="r" b="b"/>
              <a:pathLst>
                <a:path w="10972800" h="85344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11006582" cy="887224"/>
            </a:xfrm>
            <a:custGeom>
              <a:avLst/>
              <a:gdLst/>
              <a:ahLst/>
              <a:cxnLst/>
              <a:rect l="l" t="t" r="r" b="b"/>
              <a:pathLst>
                <a:path w="11006582" h="887224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70331"/>
                  </a:lnTo>
                  <a:cubicBezTo>
                    <a:pt x="11006582" y="879729"/>
                    <a:pt x="10998962" y="887222"/>
                    <a:pt x="1098969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0989691" y="853440"/>
                  </a:lnTo>
                  <a:lnTo>
                    <a:pt x="10989691" y="870331"/>
                  </a:lnTo>
                  <a:lnTo>
                    <a:pt x="10972800" y="8703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31520" y="6729984"/>
            <a:ext cx="7863840" cy="493776"/>
            <a:chOff x="0" y="0"/>
            <a:chExt cx="10485120" cy="65836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485120" cy="658368"/>
            </a:xfrm>
            <a:custGeom>
              <a:avLst/>
              <a:gdLst/>
              <a:ahLst/>
              <a:cxnLst/>
              <a:rect l="l" t="t" r="r" b="b"/>
              <a:pathLst>
                <a:path w="10485120" h="658368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0317" b="-260317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10485120" cy="705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7-Month Timeline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68096" y="7461504"/>
            <a:ext cx="7772400" cy="310896"/>
            <a:chOff x="0" y="0"/>
            <a:chExt cx="10363200" cy="41452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363200" cy="414528"/>
            </a:xfrm>
            <a:custGeom>
              <a:avLst/>
              <a:gdLst/>
              <a:ahLst/>
              <a:cxnLst/>
              <a:rect l="l" t="t" r="r" b="b"/>
              <a:pathLst>
                <a:path w="10363200" h="414528">
                  <a:moveTo>
                    <a:pt x="0" y="0"/>
                  </a:moveTo>
                  <a:lnTo>
                    <a:pt x="10363200" y="0"/>
                  </a:lnTo>
                  <a:lnTo>
                    <a:pt x="1036320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0363200" cy="452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M1: Data collection + calibration refinement [PLANNED]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8096" y="7781544"/>
            <a:ext cx="7772400" cy="310896"/>
            <a:chOff x="0" y="0"/>
            <a:chExt cx="10363200" cy="41452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363200" cy="414528"/>
            </a:xfrm>
            <a:custGeom>
              <a:avLst/>
              <a:gdLst/>
              <a:ahLst/>
              <a:cxnLst/>
              <a:rect l="l" t="t" r="r" b="b"/>
              <a:pathLst>
                <a:path w="10363200" h="414528">
                  <a:moveTo>
                    <a:pt x="0" y="0"/>
                  </a:moveTo>
                  <a:lnTo>
                    <a:pt x="10363200" y="0"/>
                  </a:lnTo>
                  <a:lnTo>
                    <a:pt x="1036320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0363200" cy="452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M2: LLM rewriting + quality gate filtering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68096" y="8101584"/>
            <a:ext cx="7772400" cy="310896"/>
            <a:chOff x="0" y="0"/>
            <a:chExt cx="10363200" cy="41452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363200" cy="414528"/>
            </a:xfrm>
            <a:custGeom>
              <a:avLst/>
              <a:gdLst/>
              <a:ahLst/>
              <a:cxnLst/>
              <a:rect l="l" t="t" r="r" b="b"/>
              <a:pathLst>
                <a:path w="10363200" h="414528">
                  <a:moveTo>
                    <a:pt x="0" y="0"/>
                  </a:moveTo>
                  <a:lnTo>
                    <a:pt x="10363200" y="0"/>
                  </a:lnTo>
                  <a:lnTo>
                    <a:pt x="1036320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10363200" cy="452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M3: Feature extraction + PCA + thesis writing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8096" y="8421624"/>
            <a:ext cx="7772400" cy="310896"/>
            <a:chOff x="0" y="0"/>
            <a:chExt cx="10363200" cy="41452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363200" cy="414528"/>
            </a:xfrm>
            <a:custGeom>
              <a:avLst/>
              <a:gdLst/>
              <a:ahLst/>
              <a:cxnLst/>
              <a:rect l="l" t="t" r="r" b="b"/>
              <a:pathLst>
                <a:path w="10363200" h="414528">
                  <a:moveTo>
                    <a:pt x="0" y="0"/>
                  </a:moveTo>
                  <a:lnTo>
                    <a:pt x="10363200" y="0"/>
                  </a:lnTo>
                  <a:lnTo>
                    <a:pt x="1036320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10363200" cy="452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M4: Training + OOD evaluation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8096" y="8741664"/>
            <a:ext cx="7772400" cy="310896"/>
            <a:chOff x="0" y="0"/>
            <a:chExt cx="10363200" cy="41452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363200" cy="414528"/>
            </a:xfrm>
            <a:custGeom>
              <a:avLst/>
              <a:gdLst/>
              <a:ahLst/>
              <a:cxnLst/>
              <a:rect l="l" t="t" r="r" b="b"/>
              <a:pathLst>
                <a:path w="10363200" h="414528">
                  <a:moveTo>
                    <a:pt x="0" y="0"/>
                  </a:moveTo>
                  <a:lnTo>
                    <a:pt x="10363200" y="0"/>
                  </a:lnTo>
                  <a:lnTo>
                    <a:pt x="1036320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0363200" cy="452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M5: SHAP + visualisations + Grok analysis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68096" y="9061704"/>
            <a:ext cx="7772400" cy="310896"/>
            <a:chOff x="0" y="0"/>
            <a:chExt cx="10363200" cy="41452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363200" cy="414528"/>
            </a:xfrm>
            <a:custGeom>
              <a:avLst/>
              <a:gdLst/>
              <a:ahLst/>
              <a:cxnLst/>
              <a:rect l="l" t="t" r="r" b="b"/>
              <a:pathLst>
                <a:path w="10363200" h="414528">
                  <a:moveTo>
                    <a:pt x="0" y="0"/>
                  </a:moveTo>
                  <a:lnTo>
                    <a:pt x="10363200" y="0"/>
                  </a:lnTo>
                  <a:lnTo>
                    <a:pt x="1036320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10363200" cy="452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M6: Full thesis draft + supervisor review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8096" y="9381744"/>
            <a:ext cx="7772400" cy="310896"/>
            <a:chOff x="0" y="0"/>
            <a:chExt cx="10363200" cy="41452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363200" cy="414528"/>
            </a:xfrm>
            <a:custGeom>
              <a:avLst/>
              <a:gdLst/>
              <a:ahLst/>
              <a:cxnLst/>
              <a:rect l="l" t="t" r="r" b="b"/>
              <a:pathLst>
                <a:path w="10363200" h="414528">
                  <a:moveTo>
                    <a:pt x="0" y="0"/>
                  </a:moveTo>
                  <a:lnTo>
                    <a:pt x="10363200" y="0"/>
                  </a:lnTo>
                  <a:lnTo>
                    <a:pt x="1036320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10363200" cy="452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M7: Revisions + submission + presentation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131303" y="2456183"/>
            <a:ext cx="8712203" cy="720347"/>
            <a:chOff x="0" y="0"/>
            <a:chExt cx="11616271" cy="960463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1582400" cy="926592"/>
            </a:xfrm>
            <a:custGeom>
              <a:avLst/>
              <a:gdLst/>
              <a:ahLst/>
              <a:cxnLst/>
              <a:rect l="l" t="t" r="r" b="b"/>
              <a:pathLst>
                <a:path w="11582400" h="926592">
                  <a:moveTo>
                    <a:pt x="0" y="0"/>
                  </a:moveTo>
                  <a:lnTo>
                    <a:pt x="11582400" y="0"/>
                  </a:lnTo>
                  <a:lnTo>
                    <a:pt x="115824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0"/>
              <a:ext cx="11616182" cy="960376"/>
            </a:xfrm>
            <a:custGeom>
              <a:avLst/>
              <a:gdLst/>
              <a:ahLst/>
              <a:cxnLst/>
              <a:rect l="l" t="t" r="r" b="b"/>
              <a:pathLst>
                <a:path w="11616182" h="960376">
                  <a:moveTo>
                    <a:pt x="16891" y="0"/>
                  </a:moveTo>
                  <a:lnTo>
                    <a:pt x="11599291" y="0"/>
                  </a:lnTo>
                  <a:cubicBezTo>
                    <a:pt x="11608689" y="0"/>
                    <a:pt x="11616182" y="7620"/>
                    <a:pt x="11616182" y="16891"/>
                  </a:cubicBezTo>
                  <a:lnTo>
                    <a:pt x="11616182" y="943483"/>
                  </a:lnTo>
                  <a:cubicBezTo>
                    <a:pt x="11616182" y="952881"/>
                    <a:pt x="11608562" y="960374"/>
                    <a:pt x="115992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599291" y="926592"/>
                  </a:lnTo>
                  <a:lnTo>
                    <a:pt x="11599291" y="943483"/>
                  </a:lnTo>
                  <a:lnTo>
                    <a:pt x="11582400" y="943483"/>
                  </a:lnTo>
                  <a:lnTo>
                    <a:pt x="11582400" y="16891"/>
                  </a:lnTo>
                  <a:lnTo>
                    <a:pt x="11599291" y="16891"/>
                  </a:lnTo>
                  <a:lnTo>
                    <a:pt x="11599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326880" y="2523744"/>
            <a:ext cx="8321040" cy="548640"/>
            <a:chOff x="0" y="0"/>
            <a:chExt cx="11094720" cy="7315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1094720" cy="731520"/>
            </a:xfrm>
            <a:custGeom>
              <a:avLst/>
              <a:gdLst/>
              <a:ahLst/>
              <a:cxnLst/>
              <a:rect l="l" t="t" r="r" b="b"/>
              <a:pathLst>
                <a:path w="11094720" h="7315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523" b="-24552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110947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Register — All Have Documented Overcoming Strategies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131303" y="3279143"/>
            <a:ext cx="8712203" cy="921515"/>
            <a:chOff x="0" y="0"/>
            <a:chExt cx="11616271" cy="1228687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11582400" cy="1194816"/>
            </a:xfrm>
            <a:custGeom>
              <a:avLst/>
              <a:gdLst/>
              <a:ahLst/>
              <a:cxnLst/>
              <a:rect l="l" t="t" r="r" b="b"/>
              <a:pathLst>
                <a:path w="11582400" h="1194816">
                  <a:moveTo>
                    <a:pt x="0" y="0"/>
                  </a:moveTo>
                  <a:lnTo>
                    <a:pt x="11582400" y="0"/>
                  </a:lnTo>
                  <a:lnTo>
                    <a:pt x="115824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6" name="Freeform 76"/>
            <p:cNvSpPr/>
            <p:nvPr/>
          </p:nvSpPr>
          <p:spPr>
            <a:xfrm>
              <a:off x="0" y="0"/>
              <a:ext cx="11616182" cy="1228600"/>
            </a:xfrm>
            <a:custGeom>
              <a:avLst/>
              <a:gdLst/>
              <a:ahLst/>
              <a:cxnLst/>
              <a:rect l="l" t="t" r="r" b="b"/>
              <a:pathLst>
                <a:path w="11616182" h="1228600">
                  <a:moveTo>
                    <a:pt x="16891" y="0"/>
                  </a:moveTo>
                  <a:lnTo>
                    <a:pt x="11599291" y="0"/>
                  </a:lnTo>
                  <a:cubicBezTo>
                    <a:pt x="11608689" y="0"/>
                    <a:pt x="11616182" y="7620"/>
                    <a:pt x="11616182" y="16891"/>
                  </a:cubicBezTo>
                  <a:lnTo>
                    <a:pt x="11616182" y="1211707"/>
                  </a:lnTo>
                  <a:cubicBezTo>
                    <a:pt x="11616182" y="1221105"/>
                    <a:pt x="11608562" y="1228598"/>
                    <a:pt x="115992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11599291" y="1194816"/>
                  </a:lnTo>
                  <a:lnTo>
                    <a:pt x="11599291" y="1211707"/>
                  </a:lnTo>
                  <a:lnTo>
                    <a:pt x="11582400" y="1211707"/>
                  </a:lnTo>
                  <a:lnTo>
                    <a:pt x="11582400" y="16891"/>
                  </a:lnTo>
                  <a:lnTo>
                    <a:pt x="11599291" y="16891"/>
                  </a:lnTo>
                  <a:lnTo>
                    <a:pt x="11599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259319" y="3462023"/>
            <a:ext cx="1031243" cy="427739"/>
            <a:chOff x="0" y="0"/>
            <a:chExt cx="1374991" cy="570319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9" name="Freeform 79"/>
            <p:cNvSpPr/>
            <p:nvPr/>
          </p:nvSpPr>
          <p:spPr>
            <a:xfrm>
              <a:off x="0" y="0"/>
              <a:ext cx="1374902" cy="570232"/>
            </a:xfrm>
            <a:custGeom>
              <a:avLst/>
              <a:gdLst/>
              <a:ahLst/>
              <a:cxnLst/>
              <a:rect l="l" t="t" r="r" b="b"/>
              <a:pathLst>
                <a:path w="1374902" h="57023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553339"/>
                  </a:lnTo>
                  <a:cubicBezTo>
                    <a:pt x="1374902" y="562737"/>
                    <a:pt x="1367282" y="570230"/>
                    <a:pt x="135801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358011" y="536448"/>
                  </a:lnTo>
                  <a:lnTo>
                    <a:pt x="1358011" y="553339"/>
                  </a:lnTo>
                  <a:lnTo>
                    <a:pt x="1341120" y="553339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272016" y="3474720"/>
            <a:ext cx="1005840" cy="402336"/>
            <a:chOff x="0" y="0"/>
            <a:chExt cx="1341120" cy="53644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134112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0369296" y="3364992"/>
            <a:ext cx="7223760" cy="402336"/>
            <a:chOff x="0" y="0"/>
            <a:chExt cx="9631680" cy="53644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631680" cy="536448"/>
            </a:xfrm>
            <a:custGeom>
              <a:avLst/>
              <a:gdLst/>
              <a:ahLst/>
              <a:cxnLst/>
              <a:rect l="l" t="t" r="r" b="b"/>
              <a:pathLst>
                <a:path w="9631680" h="536448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844" b="-29984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xAI API cost increase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369296" y="3749040"/>
            <a:ext cx="7223760" cy="384048"/>
            <a:chOff x="0" y="0"/>
            <a:chExt cx="9631680" cy="51206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9631680" cy="512064"/>
            </a:xfrm>
            <a:custGeom>
              <a:avLst/>
              <a:gdLst/>
              <a:ahLst/>
              <a:cxnLst/>
              <a:rect l="l" t="t" r="r" b="b"/>
              <a:pathLst>
                <a:path w="9631680" h="512064">
                  <a:moveTo>
                    <a:pt x="0" y="0"/>
                  </a:moveTo>
                  <a:lnTo>
                    <a:pt x="9631680" y="0"/>
                  </a:lnTo>
                  <a:lnTo>
                    <a:pt x="963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504" b="-3165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963168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Fix: Semi-automated manual collection (pyautogui). 15/day, $0 fallback.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131303" y="4321559"/>
            <a:ext cx="8712203" cy="921515"/>
            <a:chOff x="0" y="0"/>
            <a:chExt cx="11616271" cy="1228687"/>
          </a:xfrm>
        </p:grpSpPr>
        <p:sp>
          <p:nvSpPr>
            <p:cNvPr id="90" name="Freeform 90"/>
            <p:cNvSpPr/>
            <p:nvPr/>
          </p:nvSpPr>
          <p:spPr>
            <a:xfrm>
              <a:off x="16891" y="16891"/>
              <a:ext cx="11582400" cy="1194816"/>
            </a:xfrm>
            <a:custGeom>
              <a:avLst/>
              <a:gdLst/>
              <a:ahLst/>
              <a:cxnLst/>
              <a:rect l="l" t="t" r="r" b="b"/>
              <a:pathLst>
                <a:path w="11582400" h="1194816">
                  <a:moveTo>
                    <a:pt x="0" y="0"/>
                  </a:moveTo>
                  <a:lnTo>
                    <a:pt x="11582400" y="0"/>
                  </a:lnTo>
                  <a:lnTo>
                    <a:pt x="115824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91" name="Freeform 91"/>
            <p:cNvSpPr/>
            <p:nvPr/>
          </p:nvSpPr>
          <p:spPr>
            <a:xfrm>
              <a:off x="0" y="0"/>
              <a:ext cx="11616182" cy="1228600"/>
            </a:xfrm>
            <a:custGeom>
              <a:avLst/>
              <a:gdLst/>
              <a:ahLst/>
              <a:cxnLst/>
              <a:rect l="l" t="t" r="r" b="b"/>
              <a:pathLst>
                <a:path w="11616182" h="1228600">
                  <a:moveTo>
                    <a:pt x="16891" y="0"/>
                  </a:moveTo>
                  <a:lnTo>
                    <a:pt x="11599291" y="0"/>
                  </a:lnTo>
                  <a:cubicBezTo>
                    <a:pt x="11608689" y="0"/>
                    <a:pt x="11616182" y="7620"/>
                    <a:pt x="11616182" y="16891"/>
                  </a:cubicBezTo>
                  <a:lnTo>
                    <a:pt x="11616182" y="1211707"/>
                  </a:lnTo>
                  <a:cubicBezTo>
                    <a:pt x="11616182" y="1221105"/>
                    <a:pt x="11608562" y="1228598"/>
                    <a:pt x="115992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11599291" y="1194816"/>
                  </a:lnTo>
                  <a:lnTo>
                    <a:pt x="11599291" y="1211707"/>
                  </a:lnTo>
                  <a:lnTo>
                    <a:pt x="11582400" y="1211707"/>
                  </a:lnTo>
                  <a:lnTo>
                    <a:pt x="11582400" y="16891"/>
                  </a:lnTo>
                  <a:lnTo>
                    <a:pt x="11599291" y="16891"/>
                  </a:lnTo>
                  <a:lnTo>
                    <a:pt x="11599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259319" y="4504439"/>
            <a:ext cx="1031243" cy="427739"/>
            <a:chOff x="0" y="0"/>
            <a:chExt cx="1374991" cy="570319"/>
          </a:xfrm>
        </p:grpSpPr>
        <p:sp>
          <p:nvSpPr>
            <p:cNvPr id="93" name="Freeform 93"/>
            <p:cNvSpPr/>
            <p:nvPr/>
          </p:nvSpPr>
          <p:spPr>
            <a:xfrm>
              <a:off x="16891" y="16891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94" name="Freeform 94"/>
            <p:cNvSpPr/>
            <p:nvPr/>
          </p:nvSpPr>
          <p:spPr>
            <a:xfrm>
              <a:off x="0" y="0"/>
              <a:ext cx="1374902" cy="570232"/>
            </a:xfrm>
            <a:custGeom>
              <a:avLst/>
              <a:gdLst/>
              <a:ahLst/>
              <a:cxnLst/>
              <a:rect l="l" t="t" r="r" b="b"/>
              <a:pathLst>
                <a:path w="1374902" h="57023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553339"/>
                  </a:lnTo>
                  <a:cubicBezTo>
                    <a:pt x="1374902" y="562737"/>
                    <a:pt x="1367282" y="570230"/>
                    <a:pt x="135801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358011" y="536448"/>
                  </a:lnTo>
                  <a:lnTo>
                    <a:pt x="1358011" y="553339"/>
                  </a:lnTo>
                  <a:lnTo>
                    <a:pt x="1341120" y="553339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272016" y="4517136"/>
            <a:ext cx="1005840" cy="402336"/>
            <a:chOff x="0" y="0"/>
            <a:chExt cx="1341120" cy="53644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28575"/>
              <a:ext cx="134112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0369296" y="4407408"/>
            <a:ext cx="7223760" cy="402336"/>
            <a:chOff x="0" y="0"/>
            <a:chExt cx="9631680" cy="536448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9631680" cy="536448"/>
            </a:xfrm>
            <a:custGeom>
              <a:avLst/>
              <a:gdLst/>
              <a:ahLst/>
              <a:cxnLst/>
              <a:rect l="l" t="t" r="r" b="b"/>
              <a:pathLst>
                <a:path w="9631680" h="536448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844" b="-29984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Pilot mis-calibrated (self-rewriting flaw)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369296" y="4791456"/>
            <a:ext cx="7223760" cy="384048"/>
            <a:chOff x="0" y="0"/>
            <a:chExt cx="9631680" cy="512064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9631680" cy="512064"/>
            </a:xfrm>
            <a:custGeom>
              <a:avLst/>
              <a:gdLst/>
              <a:ahLst/>
              <a:cxnLst/>
              <a:rect l="l" t="t" r="r" b="b"/>
              <a:pathLst>
                <a:path w="9631680" h="512064">
                  <a:moveTo>
                    <a:pt x="0" y="0"/>
                  </a:moveTo>
                  <a:lnTo>
                    <a:pt x="9631680" y="0"/>
                  </a:lnTo>
                  <a:lnTo>
                    <a:pt x="963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504" b="-3165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963168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Fix: Month 1 calibration refinement with actual target model outputs — before production rewriting.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9131303" y="5363975"/>
            <a:ext cx="8712203" cy="921515"/>
            <a:chOff x="0" y="0"/>
            <a:chExt cx="11616271" cy="1228687"/>
          </a:xfrm>
        </p:grpSpPr>
        <p:sp>
          <p:nvSpPr>
            <p:cNvPr id="105" name="Freeform 105"/>
            <p:cNvSpPr/>
            <p:nvPr/>
          </p:nvSpPr>
          <p:spPr>
            <a:xfrm>
              <a:off x="16891" y="16891"/>
              <a:ext cx="11582400" cy="1194816"/>
            </a:xfrm>
            <a:custGeom>
              <a:avLst/>
              <a:gdLst/>
              <a:ahLst/>
              <a:cxnLst/>
              <a:rect l="l" t="t" r="r" b="b"/>
              <a:pathLst>
                <a:path w="11582400" h="1194816">
                  <a:moveTo>
                    <a:pt x="0" y="0"/>
                  </a:moveTo>
                  <a:lnTo>
                    <a:pt x="11582400" y="0"/>
                  </a:lnTo>
                  <a:lnTo>
                    <a:pt x="115824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6" name="Freeform 106"/>
            <p:cNvSpPr/>
            <p:nvPr/>
          </p:nvSpPr>
          <p:spPr>
            <a:xfrm>
              <a:off x="0" y="0"/>
              <a:ext cx="11616182" cy="1228600"/>
            </a:xfrm>
            <a:custGeom>
              <a:avLst/>
              <a:gdLst/>
              <a:ahLst/>
              <a:cxnLst/>
              <a:rect l="l" t="t" r="r" b="b"/>
              <a:pathLst>
                <a:path w="11616182" h="1228600">
                  <a:moveTo>
                    <a:pt x="16891" y="0"/>
                  </a:moveTo>
                  <a:lnTo>
                    <a:pt x="11599291" y="0"/>
                  </a:lnTo>
                  <a:cubicBezTo>
                    <a:pt x="11608689" y="0"/>
                    <a:pt x="11616182" y="7620"/>
                    <a:pt x="11616182" y="16891"/>
                  </a:cubicBezTo>
                  <a:lnTo>
                    <a:pt x="11616182" y="1211707"/>
                  </a:lnTo>
                  <a:cubicBezTo>
                    <a:pt x="11616182" y="1221105"/>
                    <a:pt x="11608562" y="1228598"/>
                    <a:pt x="115992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11599291" y="1194816"/>
                  </a:lnTo>
                  <a:lnTo>
                    <a:pt x="11599291" y="1211707"/>
                  </a:lnTo>
                  <a:lnTo>
                    <a:pt x="11582400" y="1211707"/>
                  </a:lnTo>
                  <a:lnTo>
                    <a:pt x="11582400" y="16891"/>
                  </a:lnTo>
                  <a:lnTo>
                    <a:pt x="11599291" y="16891"/>
                  </a:lnTo>
                  <a:lnTo>
                    <a:pt x="11599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9259319" y="5546855"/>
            <a:ext cx="1031243" cy="427739"/>
            <a:chOff x="0" y="0"/>
            <a:chExt cx="1374991" cy="570319"/>
          </a:xfrm>
        </p:grpSpPr>
        <p:sp>
          <p:nvSpPr>
            <p:cNvPr id="108" name="Freeform 108"/>
            <p:cNvSpPr/>
            <p:nvPr/>
          </p:nvSpPr>
          <p:spPr>
            <a:xfrm>
              <a:off x="16891" y="16891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9" name="Freeform 109"/>
            <p:cNvSpPr/>
            <p:nvPr/>
          </p:nvSpPr>
          <p:spPr>
            <a:xfrm>
              <a:off x="0" y="0"/>
              <a:ext cx="1374902" cy="570232"/>
            </a:xfrm>
            <a:custGeom>
              <a:avLst/>
              <a:gdLst/>
              <a:ahLst/>
              <a:cxnLst/>
              <a:rect l="l" t="t" r="r" b="b"/>
              <a:pathLst>
                <a:path w="1374902" h="57023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553339"/>
                  </a:lnTo>
                  <a:cubicBezTo>
                    <a:pt x="1374902" y="562737"/>
                    <a:pt x="1367282" y="570230"/>
                    <a:pt x="135801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358011" y="536448"/>
                  </a:lnTo>
                  <a:lnTo>
                    <a:pt x="1358011" y="553339"/>
                  </a:lnTo>
                  <a:lnTo>
                    <a:pt x="1341120" y="553339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272016" y="5559552"/>
            <a:ext cx="1005840" cy="402336"/>
            <a:chOff x="0" y="0"/>
            <a:chExt cx="1341120" cy="536448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28575"/>
              <a:ext cx="134112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0369296" y="5449824"/>
            <a:ext cx="7223760" cy="402336"/>
            <a:chOff x="0" y="0"/>
            <a:chExt cx="9631680" cy="536448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9631680" cy="536448"/>
            </a:xfrm>
            <a:custGeom>
              <a:avLst/>
              <a:gdLst/>
              <a:ahLst/>
              <a:cxnLst/>
              <a:rect l="l" t="t" r="r" b="b"/>
              <a:pathLst>
                <a:path w="9631680" h="536448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844" b="-29984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Groq rate limit reached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0369296" y="5833872"/>
            <a:ext cx="7223760" cy="384048"/>
            <a:chOff x="0" y="0"/>
            <a:chExt cx="9631680" cy="512064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9631680" cy="512064"/>
            </a:xfrm>
            <a:custGeom>
              <a:avLst/>
              <a:gdLst/>
              <a:ahLst/>
              <a:cxnLst/>
              <a:rect l="l" t="t" r="r" b="b"/>
              <a:pathLst>
                <a:path w="9631680" h="512064">
                  <a:moveTo>
                    <a:pt x="0" y="0"/>
                  </a:moveTo>
                  <a:lnTo>
                    <a:pt x="9631680" y="0"/>
                  </a:lnTo>
                  <a:lnTo>
                    <a:pt x="963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504" b="-3165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963168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Fix: HuggingFace Inference API + Mistral-7B as documented backup rewriter.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131303" y="6406391"/>
            <a:ext cx="8712203" cy="921515"/>
            <a:chOff x="0" y="0"/>
            <a:chExt cx="11616271" cy="1228687"/>
          </a:xfrm>
        </p:grpSpPr>
        <p:sp>
          <p:nvSpPr>
            <p:cNvPr id="120" name="Freeform 120"/>
            <p:cNvSpPr/>
            <p:nvPr/>
          </p:nvSpPr>
          <p:spPr>
            <a:xfrm>
              <a:off x="16891" y="16891"/>
              <a:ext cx="11582400" cy="1194816"/>
            </a:xfrm>
            <a:custGeom>
              <a:avLst/>
              <a:gdLst/>
              <a:ahLst/>
              <a:cxnLst/>
              <a:rect l="l" t="t" r="r" b="b"/>
              <a:pathLst>
                <a:path w="11582400" h="1194816">
                  <a:moveTo>
                    <a:pt x="0" y="0"/>
                  </a:moveTo>
                  <a:lnTo>
                    <a:pt x="11582400" y="0"/>
                  </a:lnTo>
                  <a:lnTo>
                    <a:pt x="115824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21" name="Freeform 121"/>
            <p:cNvSpPr/>
            <p:nvPr/>
          </p:nvSpPr>
          <p:spPr>
            <a:xfrm>
              <a:off x="0" y="0"/>
              <a:ext cx="11616182" cy="1228600"/>
            </a:xfrm>
            <a:custGeom>
              <a:avLst/>
              <a:gdLst/>
              <a:ahLst/>
              <a:cxnLst/>
              <a:rect l="l" t="t" r="r" b="b"/>
              <a:pathLst>
                <a:path w="11616182" h="1228600">
                  <a:moveTo>
                    <a:pt x="16891" y="0"/>
                  </a:moveTo>
                  <a:lnTo>
                    <a:pt x="11599291" y="0"/>
                  </a:lnTo>
                  <a:cubicBezTo>
                    <a:pt x="11608689" y="0"/>
                    <a:pt x="11616182" y="7620"/>
                    <a:pt x="11616182" y="16891"/>
                  </a:cubicBezTo>
                  <a:lnTo>
                    <a:pt x="11616182" y="1211707"/>
                  </a:lnTo>
                  <a:cubicBezTo>
                    <a:pt x="11616182" y="1221105"/>
                    <a:pt x="11608562" y="1228598"/>
                    <a:pt x="115992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11599291" y="1194816"/>
                  </a:lnTo>
                  <a:lnTo>
                    <a:pt x="11599291" y="1211707"/>
                  </a:lnTo>
                  <a:lnTo>
                    <a:pt x="11582400" y="1211707"/>
                  </a:lnTo>
                  <a:lnTo>
                    <a:pt x="11582400" y="16891"/>
                  </a:lnTo>
                  <a:lnTo>
                    <a:pt x="11599291" y="16891"/>
                  </a:lnTo>
                  <a:lnTo>
                    <a:pt x="11599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9259319" y="6589271"/>
            <a:ext cx="1031243" cy="427739"/>
            <a:chOff x="0" y="0"/>
            <a:chExt cx="1374991" cy="570319"/>
          </a:xfrm>
        </p:grpSpPr>
        <p:sp>
          <p:nvSpPr>
            <p:cNvPr id="123" name="Freeform 123"/>
            <p:cNvSpPr/>
            <p:nvPr/>
          </p:nvSpPr>
          <p:spPr>
            <a:xfrm>
              <a:off x="16891" y="16891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24" name="Freeform 124"/>
            <p:cNvSpPr/>
            <p:nvPr/>
          </p:nvSpPr>
          <p:spPr>
            <a:xfrm>
              <a:off x="0" y="0"/>
              <a:ext cx="1374902" cy="570232"/>
            </a:xfrm>
            <a:custGeom>
              <a:avLst/>
              <a:gdLst/>
              <a:ahLst/>
              <a:cxnLst/>
              <a:rect l="l" t="t" r="r" b="b"/>
              <a:pathLst>
                <a:path w="1374902" h="57023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553339"/>
                  </a:lnTo>
                  <a:cubicBezTo>
                    <a:pt x="1374902" y="562737"/>
                    <a:pt x="1367282" y="570230"/>
                    <a:pt x="135801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358011" y="536448"/>
                  </a:lnTo>
                  <a:lnTo>
                    <a:pt x="1358011" y="553339"/>
                  </a:lnTo>
                  <a:lnTo>
                    <a:pt x="1341120" y="553339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272016" y="6601968"/>
            <a:ext cx="1005840" cy="402336"/>
            <a:chOff x="0" y="0"/>
            <a:chExt cx="1341120" cy="536448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0" y="-28575"/>
              <a:ext cx="134112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0369296" y="6492240"/>
            <a:ext cx="7223760" cy="402336"/>
            <a:chOff x="0" y="0"/>
            <a:chExt cx="9631680" cy="536448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9631680" cy="536448"/>
            </a:xfrm>
            <a:custGeom>
              <a:avLst/>
              <a:gdLst/>
              <a:ahLst/>
              <a:cxnLst/>
              <a:rect l="l" t="t" r="r" b="b"/>
              <a:pathLst>
                <a:path w="9631680" h="536448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844" b="-29984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PCA component count suboptimal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0369296" y="6876288"/>
            <a:ext cx="7223760" cy="384048"/>
            <a:chOff x="0" y="0"/>
            <a:chExt cx="9631680" cy="512064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9631680" cy="512064"/>
            </a:xfrm>
            <a:custGeom>
              <a:avLst/>
              <a:gdLst/>
              <a:ahLst/>
              <a:cxnLst/>
              <a:rect l="l" t="t" r="r" b="b"/>
              <a:pathLst>
                <a:path w="9631680" h="512064">
                  <a:moveTo>
                    <a:pt x="0" y="0"/>
                  </a:moveTo>
                  <a:lnTo>
                    <a:pt x="9631680" y="0"/>
                  </a:lnTo>
                  <a:lnTo>
                    <a:pt x="963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504" b="-3165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0" y="-38100"/>
              <a:ext cx="963168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Fix: Adjust variance target (90–99%). Report final count and cumulative variance in results.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9131303" y="7448807"/>
            <a:ext cx="8712203" cy="921515"/>
            <a:chOff x="0" y="0"/>
            <a:chExt cx="11616271" cy="1228687"/>
          </a:xfrm>
        </p:grpSpPr>
        <p:sp>
          <p:nvSpPr>
            <p:cNvPr id="135" name="Freeform 135"/>
            <p:cNvSpPr/>
            <p:nvPr/>
          </p:nvSpPr>
          <p:spPr>
            <a:xfrm>
              <a:off x="16891" y="16891"/>
              <a:ext cx="11582400" cy="1194816"/>
            </a:xfrm>
            <a:custGeom>
              <a:avLst/>
              <a:gdLst/>
              <a:ahLst/>
              <a:cxnLst/>
              <a:rect l="l" t="t" r="r" b="b"/>
              <a:pathLst>
                <a:path w="11582400" h="1194816">
                  <a:moveTo>
                    <a:pt x="0" y="0"/>
                  </a:moveTo>
                  <a:lnTo>
                    <a:pt x="11582400" y="0"/>
                  </a:lnTo>
                  <a:lnTo>
                    <a:pt x="115824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6" name="Freeform 136"/>
            <p:cNvSpPr/>
            <p:nvPr/>
          </p:nvSpPr>
          <p:spPr>
            <a:xfrm>
              <a:off x="0" y="0"/>
              <a:ext cx="11616182" cy="1228600"/>
            </a:xfrm>
            <a:custGeom>
              <a:avLst/>
              <a:gdLst/>
              <a:ahLst/>
              <a:cxnLst/>
              <a:rect l="l" t="t" r="r" b="b"/>
              <a:pathLst>
                <a:path w="11616182" h="1228600">
                  <a:moveTo>
                    <a:pt x="16891" y="0"/>
                  </a:moveTo>
                  <a:lnTo>
                    <a:pt x="11599291" y="0"/>
                  </a:lnTo>
                  <a:cubicBezTo>
                    <a:pt x="11608689" y="0"/>
                    <a:pt x="11616182" y="7620"/>
                    <a:pt x="11616182" y="16891"/>
                  </a:cubicBezTo>
                  <a:lnTo>
                    <a:pt x="11616182" y="1211707"/>
                  </a:lnTo>
                  <a:cubicBezTo>
                    <a:pt x="11616182" y="1221105"/>
                    <a:pt x="11608562" y="1228598"/>
                    <a:pt x="115992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11599291" y="1194816"/>
                  </a:lnTo>
                  <a:lnTo>
                    <a:pt x="11599291" y="1211707"/>
                  </a:lnTo>
                  <a:lnTo>
                    <a:pt x="11582400" y="1211707"/>
                  </a:lnTo>
                  <a:lnTo>
                    <a:pt x="11582400" y="16891"/>
                  </a:lnTo>
                  <a:lnTo>
                    <a:pt x="11599291" y="16891"/>
                  </a:lnTo>
                  <a:lnTo>
                    <a:pt x="11599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259319" y="7631687"/>
            <a:ext cx="1031243" cy="427739"/>
            <a:chOff x="0" y="0"/>
            <a:chExt cx="1374991" cy="570319"/>
          </a:xfrm>
        </p:grpSpPr>
        <p:sp>
          <p:nvSpPr>
            <p:cNvPr id="138" name="Freeform 138"/>
            <p:cNvSpPr/>
            <p:nvPr/>
          </p:nvSpPr>
          <p:spPr>
            <a:xfrm>
              <a:off x="16891" y="16891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9" name="Freeform 139"/>
            <p:cNvSpPr/>
            <p:nvPr/>
          </p:nvSpPr>
          <p:spPr>
            <a:xfrm>
              <a:off x="0" y="0"/>
              <a:ext cx="1374902" cy="570232"/>
            </a:xfrm>
            <a:custGeom>
              <a:avLst/>
              <a:gdLst/>
              <a:ahLst/>
              <a:cxnLst/>
              <a:rect l="l" t="t" r="r" b="b"/>
              <a:pathLst>
                <a:path w="1374902" h="57023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553339"/>
                  </a:lnTo>
                  <a:cubicBezTo>
                    <a:pt x="1374902" y="562737"/>
                    <a:pt x="1367282" y="570230"/>
                    <a:pt x="135801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358011" y="536448"/>
                  </a:lnTo>
                  <a:lnTo>
                    <a:pt x="1358011" y="553339"/>
                  </a:lnTo>
                  <a:lnTo>
                    <a:pt x="1341120" y="553339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9272016" y="7644384"/>
            <a:ext cx="1005840" cy="402336"/>
            <a:chOff x="0" y="0"/>
            <a:chExt cx="1341120" cy="536448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0" y="-28575"/>
              <a:ext cx="134112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369296" y="7534656"/>
            <a:ext cx="7223760" cy="402336"/>
            <a:chOff x="0" y="0"/>
            <a:chExt cx="9631680" cy="536448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9631680" cy="536448"/>
            </a:xfrm>
            <a:custGeom>
              <a:avLst/>
              <a:gdLst/>
              <a:ahLst/>
              <a:cxnLst/>
              <a:rect l="l" t="t" r="r" b="b"/>
              <a:pathLst>
                <a:path w="9631680" h="536448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844" b="-29984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Quality gate rejects too many samples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0369296" y="7918704"/>
            <a:ext cx="7223760" cy="384048"/>
            <a:chOff x="0" y="0"/>
            <a:chExt cx="9631680" cy="512064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9631680" cy="512064"/>
            </a:xfrm>
            <a:custGeom>
              <a:avLst/>
              <a:gdLst/>
              <a:ahLst/>
              <a:cxnLst/>
              <a:rect l="l" t="t" r="r" b="b"/>
              <a:pathLst>
                <a:path w="9631680" h="512064">
                  <a:moveTo>
                    <a:pt x="0" y="0"/>
                  </a:moveTo>
                  <a:lnTo>
                    <a:pt x="9631680" y="0"/>
                  </a:lnTo>
                  <a:lnTo>
                    <a:pt x="963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504" b="-3165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0" y="-38100"/>
              <a:ext cx="963168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Fix: 50-sample reserve pool. Relax cosine floor by 0.02 if depleted; document deviation.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9131303" y="8491223"/>
            <a:ext cx="8712203" cy="921515"/>
            <a:chOff x="0" y="0"/>
            <a:chExt cx="11616271" cy="1228687"/>
          </a:xfrm>
        </p:grpSpPr>
        <p:sp>
          <p:nvSpPr>
            <p:cNvPr id="150" name="Freeform 150"/>
            <p:cNvSpPr/>
            <p:nvPr/>
          </p:nvSpPr>
          <p:spPr>
            <a:xfrm>
              <a:off x="16891" y="16891"/>
              <a:ext cx="11582400" cy="1194816"/>
            </a:xfrm>
            <a:custGeom>
              <a:avLst/>
              <a:gdLst/>
              <a:ahLst/>
              <a:cxnLst/>
              <a:rect l="l" t="t" r="r" b="b"/>
              <a:pathLst>
                <a:path w="11582400" h="1194816">
                  <a:moveTo>
                    <a:pt x="0" y="0"/>
                  </a:moveTo>
                  <a:lnTo>
                    <a:pt x="11582400" y="0"/>
                  </a:lnTo>
                  <a:lnTo>
                    <a:pt x="11582400" y="1194816"/>
                  </a:lnTo>
                  <a:lnTo>
                    <a:pt x="0" y="1194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51" name="Freeform 151"/>
            <p:cNvSpPr/>
            <p:nvPr/>
          </p:nvSpPr>
          <p:spPr>
            <a:xfrm>
              <a:off x="0" y="0"/>
              <a:ext cx="11616182" cy="1228600"/>
            </a:xfrm>
            <a:custGeom>
              <a:avLst/>
              <a:gdLst/>
              <a:ahLst/>
              <a:cxnLst/>
              <a:rect l="l" t="t" r="r" b="b"/>
              <a:pathLst>
                <a:path w="11616182" h="1228600">
                  <a:moveTo>
                    <a:pt x="16891" y="0"/>
                  </a:moveTo>
                  <a:lnTo>
                    <a:pt x="11599291" y="0"/>
                  </a:lnTo>
                  <a:cubicBezTo>
                    <a:pt x="11608689" y="0"/>
                    <a:pt x="11616182" y="7620"/>
                    <a:pt x="11616182" y="16891"/>
                  </a:cubicBezTo>
                  <a:lnTo>
                    <a:pt x="11616182" y="1211707"/>
                  </a:lnTo>
                  <a:cubicBezTo>
                    <a:pt x="11616182" y="1221105"/>
                    <a:pt x="11608562" y="1228598"/>
                    <a:pt x="11599291" y="1228598"/>
                  </a:cubicBezTo>
                  <a:lnTo>
                    <a:pt x="16891" y="1228598"/>
                  </a:lnTo>
                  <a:cubicBezTo>
                    <a:pt x="7620" y="1228725"/>
                    <a:pt x="0" y="1221105"/>
                    <a:pt x="0" y="12117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16891" y="1194816"/>
                  </a:lnTo>
                  <a:lnTo>
                    <a:pt x="11599291" y="1194816"/>
                  </a:lnTo>
                  <a:lnTo>
                    <a:pt x="11599291" y="1211707"/>
                  </a:lnTo>
                  <a:lnTo>
                    <a:pt x="11582400" y="1211707"/>
                  </a:lnTo>
                  <a:lnTo>
                    <a:pt x="11582400" y="16891"/>
                  </a:lnTo>
                  <a:lnTo>
                    <a:pt x="11599291" y="16891"/>
                  </a:lnTo>
                  <a:lnTo>
                    <a:pt x="11599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9259319" y="8674103"/>
            <a:ext cx="1031243" cy="427739"/>
            <a:chOff x="0" y="0"/>
            <a:chExt cx="1374991" cy="570319"/>
          </a:xfrm>
        </p:grpSpPr>
        <p:sp>
          <p:nvSpPr>
            <p:cNvPr id="153" name="Freeform 153"/>
            <p:cNvSpPr/>
            <p:nvPr/>
          </p:nvSpPr>
          <p:spPr>
            <a:xfrm>
              <a:off x="16891" y="16891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54" name="Freeform 154"/>
            <p:cNvSpPr/>
            <p:nvPr/>
          </p:nvSpPr>
          <p:spPr>
            <a:xfrm>
              <a:off x="0" y="0"/>
              <a:ext cx="1374902" cy="570232"/>
            </a:xfrm>
            <a:custGeom>
              <a:avLst/>
              <a:gdLst/>
              <a:ahLst/>
              <a:cxnLst/>
              <a:rect l="l" t="t" r="r" b="b"/>
              <a:pathLst>
                <a:path w="1374902" h="57023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553339"/>
                  </a:lnTo>
                  <a:cubicBezTo>
                    <a:pt x="1374902" y="562737"/>
                    <a:pt x="1367282" y="570230"/>
                    <a:pt x="135801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1358011" y="536448"/>
                  </a:lnTo>
                  <a:lnTo>
                    <a:pt x="1358011" y="553339"/>
                  </a:lnTo>
                  <a:lnTo>
                    <a:pt x="1341120" y="553339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9272016" y="8686800"/>
            <a:ext cx="1005840" cy="402336"/>
            <a:chOff x="0" y="0"/>
            <a:chExt cx="1341120" cy="536448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1341120" cy="536448"/>
            </a:xfrm>
            <a:custGeom>
              <a:avLst/>
              <a:gdLst/>
              <a:ahLst/>
              <a:cxnLst/>
              <a:rect l="l" t="t" r="r" b="b"/>
              <a:pathLst>
                <a:path w="1341120" h="536448">
                  <a:moveTo>
                    <a:pt x="0" y="0"/>
                  </a:moveTo>
                  <a:lnTo>
                    <a:pt x="1341120" y="0"/>
                  </a:lnTo>
                  <a:lnTo>
                    <a:pt x="134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0" y="-28575"/>
              <a:ext cx="134112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0369296" y="8577072"/>
            <a:ext cx="7223760" cy="402336"/>
            <a:chOff x="0" y="0"/>
            <a:chExt cx="9631680" cy="536448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9631680" cy="536448"/>
            </a:xfrm>
            <a:custGeom>
              <a:avLst/>
              <a:gdLst/>
              <a:ahLst/>
              <a:cxnLst/>
              <a:rect l="l" t="t" r="r" b="b"/>
              <a:pathLst>
                <a:path w="9631680" h="536448">
                  <a:moveTo>
                    <a:pt x="0" y="0"/>
                  </a:moveTo>
                  <a:lnTo>
                    <a:pt x="9631680" y="0"/>
                  </a:lnTo>
                  <a:lnTo>
                    <a:pt x="9631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844" b="-29984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0" y="-38100"/>
              <a:ext cx="96316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Null result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10369296" y="8961120"/>
            <a:ext cx="7223760" cy="384048"/>
            <a:chOff x="0" y="0"/>
            <a:chExt cx="9631680" cy="512064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9631680" cy="512064"/>
            </a:xfrm>
            <a:custGeom>
              <a:avLst/>
              <a:gdLst/>
              <a:ahLst/>
              <a:cxnLst/>
              <a:rect l="l" t="t" r="r" b="b"/>
              <a:pathLst>
                <a:path w="9631680" h="512064">
                  <a:moveTo>
                    <a:pt x="0" y="0"/>
                  </a:moveTo>
                  <a:lnTo>
                    <a:pt x="9631680" y="0"/>
                  </a:lnTo>
                  <a:lnTo>
                    <a:pt x="963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504" b="-31650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0" y="-38100"/>
              <a:ext cx="963168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Fix: Valid publishable finding. SHAP survival analysis remains fully actionable.</a:t>
              </a:r>
            </a:p>
          </p:txBody>
        </p:sp>
      </p:grpSp>
      <p:grpSp>
        <p:nvGrpSpPr>
          <p:cNvPr id="164" name="Group 164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19456"/>
            <a:ext cx="15544800" cy="1005840"/>
            <a:chOff x="0" y="0"/>
            <a:chExt cx="207264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1341120"/>
            </a:xfrm>
            <a:custGeom>
              <a:avLst/>
              <a:gdLst/>
              <a:ahLst/>
              <a:cxnLst/>
              <a:rect l="l" t="t" r="r" b="b"/>
              <a:pathLst>
                <a:path w="20726400" h="134112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32" b="-25113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&amp; Scope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1188720"/>
            <a:ext cx="16459200" cy="640080"/>
            <a:chOff x="0" y="0"/>
            <a:chExt cx="2194560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Acknowledged transparently — each with a clear future research direction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2697" y="1998983"/>
            <a:ext cx="18313403" cy="153419"/>
            <a:chOff x="0" y="0"/>
            <a:chExt cx="24417871" cy="20455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43" y="2456183"/>
            <a:ext cx="5511803" cy="3500123"/>
            <a:chOff x="0" y="0"/>
            <a:chExt cx="7349071" cy="466683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5943" y="2456183"/>
            <a:ext cx="153419" cy="3500123"/>
            <a:chOff x="0" y="0"/>
            <a:chExt cx="204559" cy="466683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77824" y="2651760"/>
            <a:ext cx="4937760" cy="731520"/>
            <a:chOff x="0" y="0"/>
            <a:chExt cx="6583680" cy="975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583680" cy="975360"/>
            </a:xfrm>
            <a:custGeom>
              <a:avLst/>
              <a:gdLst/>
              <a:ahLst/>
              <a:cxnLst/>
              <a:rect l="l" t="t" r="r" b="b"/>
              <a:pathLst>
                <a:path w="6583680" h="97536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524" b="-8152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58368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 Rewriting ≠ Commercial Humanisers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7824" y="3419856"/>
            <a:ext cx="4937760" cy="2340864"/>
            <a:chOff x="0" y="0"/>
            <a:chExt cx="6583680" cy="31211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83680" cy="3121152"/>
            </a:xfrm>
            <a:custGeom>
              <a:avLst/>
              <a:gdLst/>
              <a:ahLst/>
              <a:cxnLst/>
              <a:rect l="l" t="t" r="r" b="b"/>
              <a:pathLst>
                <a:path w="6583680" h="3121152">
                  <a:moveTo>
                    <a:pt x="0" y="0"/>
                  </a:moveTo>
                  <a:lnTo>
                    <a:pt x="6583680" y="0"/>
                  </a:lnTo>
                  <a:lnTo>
                    <a:pt x="658368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5" r="-108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6583680" cy="3168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Tests LLM-based rewriting only. StealthWriter/Undetectable.ai use perplexity injection and burstiness manipulation not captured here. Clearly out of scope — future work.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51527" y="2456183"/>
            <a:ext cx="5511803" cy="3500123"/>
            <a:chOff x="0" y="0"/>
            <a:chExt cx="7349071" cy="466683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51527" y="2456183"/>
            <a:ext cx="153419" cy="3500123"/>
            <a:chOff x="0" y="0"/>
            <a:chExt cx="204559" cy="466683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93408" y="2651760"/>
            <a:ext cx="4937760" cy="731520"/>
            <a:chOff x="0" y="0"/>
            <a:chExt cx="6583680" cy="9753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583680" cy="975360"/>
            </a:xfrm>
            <a:custGeom>
              <a:avLst/>
              <a:gdLst/>
              <a:ahLst/>
              <a:cxnLst/>
              <a:rect l="l" t="t" r="r" b="b"/>
              <a:pathLst>
                <a:path w="6583680" h="97536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524" b="-8152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658368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Pilot Self-Rewriting Flaw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93408" y="3419856"/>
            <a:ext cx="4937760" cy="2340864"/>
            <a:chOff x="0" y="0"/>
            <a:chExt cx="6583680" cy="31211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583680" cy="3121152"/>
            </a:xfrm>
            <a:custGeom>
              <a:avLst/>
              <a:gdLst/>
              <a:ahLst/>
              <a:cxnLst/>
              <a:rect l="l" t="t" r="r" b="b"/>
              <a:pathLst>
                <a:path w="6583680" h="3121152">
                  <a:moveTo>
                    <a:pt x="0" y="0"/>
                  </a:moveTo>
                  <a:lnTo>
                    <a:pt x="6583680" y="0"/>
                  </a:lnTo>
                  <a:lnTo>
                    <a:pt x="658368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5" r="-108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6583680" cy="3168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Pilot used Llama-generated source texts. Calibration refinement with actual ChatGPT/Claude/Gemini/Grok outputs planned Month 1 before production rewriting begins.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167111" y="2456183"/>
            <a:ext cx="5511803" cy="3500123"/>
            <a:chOff x="0" y="0"/>
            <a:chExt cx="7349071" cy="4666831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167111" y="2456183"/>
            <a:ext cx="153419" cy="3500123"/>
            <a:chOff x="0" y="0"/>
            <a:chExt cx="204559" cy="466683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508992" y="2651760"/>
            <a:ext cx="4937760" cy="731520"/>
            <a:chOff x="0" y="0"/>
            <a:chExt cx="6583680" cy="975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583680" cy="975360"/>
            </a:xfrm>
            <a:custGeom>
              <a:avLst/>
              <a:gdLst/>
              <a:ahLst/>
              <a:cxnLst/>
              <a:rect l="l" t="t" r="r" b="b"/>
              <a:pathLst>
                <a:path w="6583680" h="97536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524" b="-8152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658368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PCA Interpretability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508992" y="3419856"/>
            <a:ext cx="4937760" cy="2340864"/>
            <a:chOff x="0" y="0"/>
            <a:chExt cx="6583680" cy="312115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583680" cy="3121152"/>
            </a:xfrm>
            <a:custGeom>
              <a:avLst/>
              <a:gdLst/>
              <a:ahLst/>
              <a:cxnLst/>
              <a:rect l="l" t="t" r="r" b="b"/>
              <a:pathLst>
                <a:path w="6583680" h="3121152">
                  <a:moveTo>
                    <a:pt x="0" y="0"/>
                  </a:moveTo>
                  <a:lnTo>
                    <a:pt x="6583680" y="0"/>
                  </a:lnTo>
                  <a:lnTo>
                    <a:pt x="658368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5" r="-108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6583680" cy="3168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PCA components = linear combinations of 384 embedding dims. Not directly interpretable. Individual PCA SHAP values not reported as design guidance — aggregate semantic signal only.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5943" y="6205223"/>
            <a:ext cx="5511803" cy="3500123"/>
            <a:chOff x="0" y="0"/>
            <a:chExt cx="7349071" cy="4666831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35943" y="6205223"/>
            <a:ext cx="153419" cy="3500123"/>
            <a:chOff x="0" y="0"/>
            <a:chExt cx="204559" cy="466683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77824" y="6400800"/>
            <a:ext cx="4937760" cy="731520"/>
            <a:chOff x="0" y="0"/>
            <a:chExt cx="6583680" cy="97536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583680" cy="975360"/>
            </a:xfrm>
            <a:custGeom>
              <a:avLst/>
              <a:gdLst/>
              <a:ahLst/>
              <a:cxnLst/>
              <a:rect l="l" t="t" r="r" b="b"/>
              <a:pathLst>
                <a:path w="6583680" h="97536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524" b="-8152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658368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Single Rewriting Model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77824" y="7168896"/>
            <a:ext cx="4937760" cy="2340864"/>
            <a:chOff x="0" y="0"/>
            <a:chExt cx="6583680" cy="312115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583680" cy="3121152"/>
            </a:xfrm>
            <a:custGeom>
              <a:avLst/>
              <a:gdLst/>
              <a:ahLst/>
              <a:cxnLst/>
              <a:rect l="l" t="t" r="r" b="b"/>
              <a:pathLst>
                <a:path w="6583680" h="3121152">
                  <a:moveTo>
                    <a:pt x="0" y="0"/>
                  </a:moveTo>
                  <a:lnTo>
                    <a:pt x="6583680" y="0"/>
                  </a:lnTo>
                  <a:lnTo>
                    <a:pt x="658368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5" r="-108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6583680" cy="3168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rewrites use Llama 3.3 70B. Different rewriting LLMs may produce different degradation profiles. Multi-rewriter experiment is future work.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351527" y="6205223"/>
            <a:ext cx="5511803" cy="3500123"/>
            <a:chOff x="0" y="0"/>
            <a:chExt cx="7349071" cy="4666831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351527" y="6205223"/>
            <a:ext cx="153419" cy="3500123"/>
            <a:chOff x="0" y="0"/>
            <a:chExt cx="204559" cy="4666831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93408" y="6400800"/>
            <a:ext cx="4937760" cy="731520"/>
            <a:chOff x="0" y="0"/>
            <a:chExt cx="6583680" cy="97536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583680" cy="975360"/>
            </a:xfrm>
            <a:custGeom>
              <a:avLst/>
              <a:gdLst/>
              <a:ahLst/>
              <a:cxnLst/>
              <a:rect l="l" t="t" r="r" b="b"/>
              <a:pathLst>
                <a:path w="6583680" h="97536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524" b="-8152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658368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ChatGPT Version Boundary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693408" y="7168896"/>
            <a:ext cx="4937760" cy="2340864"/>
            <a:chOff x="0" y="0"/>
            <a:chExt cx="6583680" cy="312115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583680" cy="3121152"/>
            </a:xfrm>
            <a:custGeom>
              <a:avLst/>
              <a:gdLst/>
              <a:ahLst/>
              <a:cxnLst/>
              <a:rect l="l" t="t" r="r" b="b"/>
              <a:pathLst>
                <a:path w="6583680" h="3121152">
                  <a:moveTo>
                    <a:pt x="0" y="0"/>
                  </a:moveTo>
                  <a:lnTo>
                    <a:pt x="6583680" y="0"/>
                  </a:lnTo>
                  <a:lnTo>
                    <a:pt x="658368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5" r="-108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6583680" cy="3168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RAID contains GPT-3.5/4, not GPT-4o. Fingerprints of newer versions may differ. Documented per sample — GPT-4o comparison is future work.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167111" y="6205223"/>
            <a:ext cx="5511803" cy="3500123"/>
            <a:chOff x="0" y="0"/>
            <a:chExt cx="7349071" cy="4666831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7315200" cy="4632960"/>
            </a:xfrm>
            <a:custGeom>
              <a:avLst/>
              <a:gdLst/>
              <a:ahLst/>
              <a:cxnLst/>
              <a:rect l="l" t="t" r="r" b="b"/>
              <a:pathLst>
                <a:path w="7315200" h="4632960">
                  <a:moveTo>
                    <a:pt x="0" y="0"/>
                  </a:moveTo>
                  <a:lnTo>
                    <a:pt x="7315200" y="0"/>
                  </a:lnTo>
                  <a:lnTo>
                    <a:pt x="73152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6" name="Freeform 76"/>
            <p:cNvSpPr/>
            <p:nvPr/>
          </p:nvSpPr>
          <p:spPr>
            <a:xfrm>
              <a:off x="0" y="0"/>
              <a:ext cx="7348982" cy="4666742"/>
            </a:xfrm>
            <a:custGeom>
              <a:avLst/>
              <a:gdLst/>
              <a:ahLst/>
              <a:cxnLst/>
              <a:rect l="l" t="t" r="r" b="b"/>
              <a:pathLst>
                <a:path w="7348982" h="466674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649851"/>
                  </a:lnTo>
                  <a:cubicBezTo>
                    <a:pt x="7348982" y="4659249"/>
                    <a:pt x="7341362" y="4666742"/>
                    <a:pt x="733209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332091" y="4632960"/>
                  </a:lnTo>
                  <a:lnTo>
                    <a:pt x="7332091" y="4649851"/>
                  </a:lnTo>
                  <a:lnTo>
                    <a:pt x="7315200" y="4649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167111" y="6205223"/>
            <a:ext cx="153419" cy="3500123"/>
            <a:chOff x="0" y="0"/>
            <a:chExt cx="204559" cy="4666831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9" name="Freeform 79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508992" y="6400800"/>
            <a:ext cx="4937760" cy="731520"/>
            <a:chOff x="0" y="0"/>
            <a:chExt cx="6583680" cy="97536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583680" cy="975360"/>
            </a:xfrm>
            <a:custGeom>
              <a:avLst/>
              <a:gdLst/>
              <a:ahLst/>
              <a:cxnLst/>
              <a:rect l="l" t="t" r="r" b="b"/>
              <a:pathLst>
                <a:path w="6583680" h="97536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524" b="-8152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47625"/>
              <a:ext cx="658368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 Size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508992" y="7168896"/>
            <a:ext cx="4937760" cy="2340864"/>
            <a:chOff x="0" y="0"/>
            <a:chExt cx="6583680" cy="312115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583680" cy="3121152"/>
            </a:xfrm>
            <a:custGeom>
              <a:avLst/>
              <a:gdLst/>
              <a:ahLst/>
              <a:cxnLst/>
              <a:rect l="l" t="t" r="r" b="b"/>
              <a:pathLst>
                <a:path w="6583680" h="3121152">
                  <a:moveTo>
                    <a:pt x="0" y="0"/>
                  </a:moveTo>
                  <a:lnTo>
                    <a:pt x="6583680" y="0"/>
                  </a:lnTo>
                  <a:lnTo>
                    <a:pt x="658368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5" r="-10825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47625"/>
              <a:ext cx="6583680" cy="3168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300/model appropriate for undergraduate study with 5-fold CV. Results indicative — replication at n ≥ 1,000/model recommended for follow-up research.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48640" y="9656064"/>
            <a:ext cx="17190720" cy="548640"/>
            <a:chOff x="0" y="0"/>
            <a:chExt cx="22920960" cy="73152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2920961" cy="731520"/>
            </a:xfrm>
            <a:custGeom>
              <a:avLst/>
              <a:gdLst/>
              <a:ahLst/>
              <a:cxnLst/>
              <a:rect l="l" t="t" r="r" b="b"/>
              <a:pathLst>
                <a:path w="22920961" h="731520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531" b="-56053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41A45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697" y="1816103"/>
            <a:ext cx="18313403" cy="153419"/>
            <a:chOff x="0" y="0"/>
            <a:chExt cx="24417871" cy="204559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170688"/>
            </a:xfrm>
            <a:custGeom>
              <a:avLst/>
              <a:gdLst/>
              <a:ahLst/>
              <a:cxnLst/>
              <a:rect l="l" t="t" r="r" b="b"/>
              <a:pathLst>
                <a:path w="24383999" h="170688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204472"/>
            </a:xfrm>
            <a:custGeom>
              <a:avLst/>
              <a:gdLst/>
              <a:ahLst/>
              <a:cxnLst/>
              <a:rect l="l" t="t" r="r" b="b"/>
              <a:pathLst>
                <a:path w="24417782" h="20447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19456"/>
            <a:ext cx="16459200" cy="1316736"/>
            <a:chOff x="0" y="0"/>
            <a:chExt cx="21945600" cy="17556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755648"/>
            </a:xfrm>
            <a:custGeom>
              <a:avLst/>
              <a:gdLst/>
              <a:ahLst/>
              <a:cxnLst/>
              <a:rect l="l" t="t" r="r" b="b"/>
              <a:pathLst>
                <a:path w="21945600" h="1755648">
                  <a:moveTo>
                    <a:pt x="0" y="0"/>
                  </a:moveTo>
                  <a:lnTo>
                    <a:pt x="21945600" y="0"/>
                  </a:lnTo>
                  <a:lnTo>
                    <a:pt x="21945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94560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Which Model Leaves the Last Fingerprint?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2468880"/>
            <a:ext cx="16459200" cy="1463040"/>
            <a:chOff x="0" y="0"/>
            <a:chExt cx="21945600" cy="1950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950720"/>
            </a:xfrm>
            <a:custGeom>
              <a:avLst/>
              <a:gdLst/>
              <a:ahLst/>
              <a:cxnLst/>
              <a:rect l="l" t="t" r="r" b="b"/>
              <a:pathLst>
                <a:path w="21945600" h="195072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1945600" cy="2084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for Your Attention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473703" y="4047239"/>
            <a:ext cx="7340603" cy="135131"/>
            <a:chOff x="0" y="0"/>
            <a:chExt cx="9787471" cy="180175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9753600" cy="146304"/>
            </a:xfrm>
            <a:custGeom>
              <a:avLst/>
              <a:gdLst/>
              <a:ahLst/>
              <a:cxnLst/>
              <a:rect l="l" t="t" r="r" b="b"/>
              <a:pathLst>
                <a:path w="9753600" h="146304">
                  <a:moveTo>
                    <a:pt x="0" y="0"/>
                  </a:moveTo>
                  <a:lnTo>
                    <a:pt x="9753600" y="0"/>
                  </a:lnTo>
                  <a:lnTo>
                    <a:pt x="9753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9787382" cy="180088"/>
            </a:xfrm>
            <a:custGeom>
              <a:avLst/>
              <a:gdLst/>
              <a:ahLst/>
              <a:cxnLst/>
              <a:rect l="l" t="t" r="r" b="b"/>
              <a:pathLst>
                <a:path w="9787382" h="180088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63195"/>
                  </a:lnTo>
                  <a:cubicBezTo>
                    <a:pt x="9787382" y="172593"/>
                    <a:pt x="9779762" y="180086"/>
                    <a:pt x="97704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9770491" y="146304"/>
                  </a:lnTo>
                  <a:lnTo>
                    <a:pt x="9770491" y="163195"/>
                  </a:lnTo>
                  <a:lnTo>
                    <a:pt x="9753600" y="163195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94560" y="4480560"/>
            <a:ext cx="13898880" cy="768096"/>
            <a:chOff x="0" y="0"/>
            <a:chExt cx="18531840" cy="10241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531839" cy="1024128"/>
            </a:xfrm>
            <a:custGeom>
              <a:avLst/>
              <a:gdLst/>
              <a:ahLst/>
              <a:cxnLst/>
              <a:rect l="l" t="t" r="r" b="b"/>
              <a:pathLst>
                <a:path w="18531839" h="1024128">
                  <a:moveTo>
                    <a:pt x="0" y="0"/>
                  </a:moveTo>
                  <a:lnTo>
                    <a:pt x="18531839" y="0"/>
                  </a:lnTo>
                  <a:lnTo>
                    <a:pt x="185318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2586" b="-30258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5318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First inter-model attribution study including Grok across all four major commercial LLMs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194560" y="5358384"/>
            <a:ext cx="13898880" cy="768096"/>
            <a:chOff x="0" y="0"/>
            <a:chExt cx="18531840" cy="10241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531839" cy="1024128"/>
            </a:xfrm>
            <a:custGeom>
              <a:avLst/>
              <a:gdLst/>
              <a:ahLst/>
              <a:cxnLst/>
              <a:rect l="l" t="t" r="r" b="b"/>
              <a:pathLst>
                <a:path w="18531839" h="1024128">
                  <a:moveTo>
                    <a:pt x="0" y="0"/>
                  </a:moveTo>
                  <a:lnTo>
                    <a:pt x="18531839" y="0"/>
                  </a:lnTo>
                  <a:lnTo>
                    <a:pt x="185318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2586" b="-30258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85318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First measurement of attribution degradation under LLM-based rewriting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194560" y="6236208"/>
            <a:ext cx="13898880" cy="768096"/>
            <a:chOff x="0" y="0"/>
            <a:chExt cx="18531840" cy="10241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531839" cy="1024128"/>
            </a:xfrm>
            <a:custGeom>
              <a:avLst/>
              <a:gdLst/>
              <a:ahLst/>
              <a:cxnLst/>
              <a:rect l="l" t="t" r="r" b="b"/>
              <a:pathLst>
                <a:path w="18531839" h="1024128">
                  <a:moveTo>
                    <a:pt x="0" y="0"/>
                  </a:moveTo>
                  <a:lnTo>
                    <a:pt x="18531839" y="0"/>
                  </a:lnTo>
                  <a:lnTo>
                    <a:pt x="185318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4394" b="-364394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85318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Pilot-validated dual-metric quality gate — empirically derived, not arbitrary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94560" y="7114032"/>
            <a:ext cx="13898880" cy="768096"/>
            <a:chOff x="0" y="0"/>
            <a:chExt cx="18531840" cy="10241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531839" cy="1024128"/>
            </a:xfrm>
            <a:custGeom>
              <a:avLst/>
              <a:gdLst/>
              <a:ahLst/>
              <a:cxnLst/>
              <a:rect l="l" t="t" r="r" b="b"/>
              <a:pathLst>
                <a:path w="18531839" h="1024128">
                  <a:moveTo>
                    <a:pt x="0" y="0"/>
                  </a:moveTo>
                  <a:lnTo>
                    <a:pt x="18531839" y="0"/>
                  </a:lnTo>
                  <a:lnTo>
                    <a:pt x="185318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2586" b="-30258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85318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PCA-corrected pipeline — all-MiniLM-L6-v2 + ~83-d vector, sample ratio 11.6:1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4560" y="7991856"/>
            <a:ext cx="13898880" cy="768096"/>
            <a:chOff x="0" y="0"/>
            <a:chExt cx="18531840" cy="10241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8531839" cy="1024128"/>
            </a:xfrm>
            <a:custGeom>
              <a:avLst/>
              <a:gdLst/>
              <a:ahLst/>
              <a:cxnLst/>
              <a:rect l="l" t="t" r="r" b="b"/>
              <a:pathLst>
                <a:path w="18531839" h="1024128">
                  <a:moveTo>
                    <a:pt x="0" y="0"/>
                  </a:moveTo>
                  <a:lnTo>
                    <a:pt x="18531839" y="0"/>
                  </a:lnTo>
                  <a:lnTo>
                    <a:pt x="185318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2586" b="-30258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853184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Two-level SHAP survival — granular stylometric + aggregate PCA semantic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" y="8924544"/>
            <a:ext cx="16459200" cy="768096"/>
            <a:chOff x="0" y="0"/>
            <a:chExt cx="21945600" cy="102412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945600" cy="1024128"/>
            </a:xfrm>
            <a:custGeom>
              <a:avLst/>
              <a:gdLst/>
              <a:ahLst/>
              <a:cxnLst/>
              <a:rect l="l" t="t" r="r" b="b"/>
              <a:pathLst>
                <a:path w="21945600" h="1024128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2194560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Questions &amp; Discussion Welcome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24383999" cy="914400"/>
            </a:xfrm>
            <a:custGeom>
              <a:avLst/>
              <a:gdLst/>
              <a:ahLst/>
              <a:cxnLst/>
              <a:rect l="l" t="t" r="r" b="b"/>
              <a:pathLst>
                <a:path w="24383999" h="914400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24417782" cy="948184"/>
            </a:xfrm>
            <a:custGeom>
              <a:avLst/>
              <a:gdLst/>
              <a:ahLst/>
              <a:cxnLst/>
              <a:rect l="l" t="t" r="r" b="b"/>
              <a:pathLst>
                <a:path w="24417782" h="948184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0" y="9656064"/>
            <a:ext cx="18288000" cy="548640"/>
            <a:chOff x="0" y="0"/>
            <a:chExt cx="24384000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0" y="0"/>
                  </a:moveTo>
                  <a:lnTo>
                    <a:pt x="24384000" y="0"/>
                  </a:lnTo>
                  <a:lnTo>
                    <a:pt x="2438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9501" b="-599501"/>
              </a:stretch>
            </a:blipFill>
          </p:spPr>
          <p:txBody>
            <a:bodyPr/>
            <a:lstStyle/>
            <a:p>
              <a:endParaRPr lang="en-AE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4384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I.H.P.H. Dulshan  |  Reg No: 29315  |  MIS — Batch 22.2  |  NSBM Green University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14338959" y="71221"/>
            <a:ext cx="3768066" cy="1725832"/>
          </a:xfrm>
          <a:custGeom>
            <a:avLst/>
            <a:gdLst/>
            <a:ahLst/>
            <a:cxnLst/>
            <a:rect l="l" t="t" r="r" b="b"/>
            <a:pathLst>
              <a:path w="3768066" h="1725832">
                <a:moveTo>
                  <a:pt x="0" y="0"/>
                </a:moveTo>
                <a:lnTo>
                  <a:pt x="3768066" y="0"/>
                </a:lnTo>
                <a:lnTo>
                  <a:pt x="3768066" y="1725832"/>
                </a:lnTo>
                <a:lnTo>
                  <a:pt x="0" y="1725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2334</Words>
  <Application>Microsoft Office PowerPoint</Application>
  <PresentationFormat>Custom</PresentationFormat>
  <Paragraphs>406</Paragraphs>
  <Slides>15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Calibri (MS) Italics</vt:lpstr>
      <vt:lpstr>Calibri (MS) Bold</vt:lpstr>
      <vt:lpstr>Segoe UI Emoji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AI_Attribution_Presentation_v2_Final.pptx</dc:title>
  <dc:creator>harsha</dc:creator>
  <cp:lastModifiedBy>harsha kaldera</cp:lastModifiedBy>
  <cp:revision>4</cp:revision>
  <dcterms:created xsi:type="dcterms:W3CDTF">2006-08-16T00:00:00Z</dcterms:created>
  <dcterms:modified xsi:type="dcterms:W3CDTF">2026-02-23T11:12:44Z</dcterms:modified>
  <dc:identifier>DAHCIPEYZGk</dc:identifier>
</cp:coreProperties>
</file>